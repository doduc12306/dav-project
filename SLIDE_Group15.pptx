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rial Bold" charset="1" panose="020B0704020202020204"/>
      <p:regular r:id="rId22"/>
    </p:embeddedFont>
    <p:embeddedFont>
      <p:font typeface="Arial" charset="1" panose="020B0604020202020204"/>
      <p:regular r:id="rId23"/>
    </p:embeddedFont>
    <p:embeddedFont>
      <p:font typeface="Arial Italics" charset="1" panose="020B0604020202090204"/>
      <p:regular r:id="rId27"/>
    </p:embeddedFont>
    <p:embeddedFont>
      <p:font typeface="Lato Bold" charset="1" panose="020F05020202040302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notesMaster" Target="notesMasters/notesMaster1.xml"/><Relationship Id="rId25" Type="http://schemas.openxmlformats.org/officeDocument/2006/relationships/theme" Target="theme/theme2.xml"/><Relationship Id="rId26" Type="http://schemas.openxmlformats.org/officeDocument/2006/relationships/notesSlide" Target="notesSlides/notesSlide1.xml"/><Relationship Id="rId27" Type="http://schemas.openxmlformats.org/officeDocument/2006/relationships/font" Target="fonts/font27.fntdata"/><Relationship Id="rId28" Type="http://schemas.openxmlformats.org/officeDocument/2006/relationships/font" Target="fonts/font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Phase 1: Data Preparation</a:t>
            </a:r>
          </a:p>
          <a:p>
            <a:r>
              <a:rPr lang="en-US"/>
              <a:t>"First, in the Data Preparation phase, raw skeleton data undergoes Normalization and Alignment to ensure coordinate consistency. We then apply Fixed-length Sampling and Data Augmentation to create a robust input for the model."</a:t>
            </a:r>
          </a:p>
          <a:p>
            <a:r>
              <a:rPr lang="en-US"/>
              <a:t>Từ khóa: Coordinate consistency (nhất quán tọa độ), Robust input (đầu vào mạnh mẽ/ổn định).</a:t>
            </a:r>
          </a:p>
          <a:p>
            <a:r>
              <a:rPr lang="en-US"/>
              <a:t>Phase 2: S-JEPA Core Architecture (Trọng tâm)</a:t>
            </a:r>
          </a:p>
          <a:p>
            <a:r>
              <a:rPr lang="en-US"/>
              <a:t>"Moving to the core architecture, we utilize S-JEPA. Here, the data is split into two branches. The Masking Block removes certain skeletal joints or frames, which are then processed by the Context Encoder. Meanwhile, the Target Encoder, updated via EMA (Exponential Moving Average), generates embeddings from the full skeleton. The Predictor's job is to map the context to the target in the latent space by minimizing the L2 Distance."</a:t>
            </a:r>
          </a:p>
          <a:p>
            <a:r>
              <a:rPr lang="en-US"/>
              <a:t>Từ khóa: Latent space (không gian tiềm ẩn), Skeletal joints (khớp xương), Masked patches (vùng bị che).</a:t>
            </a:r>
          </a:p>
          <a:p>
            <a:r>
              <a:rPr lang="en-US"/>
              <a:t>Phase 3: Evaluation &amp; Downstream Task</a:t>
            </a:r>
          </a:p>
          <a:p>
            <a:r>
              <a:rPr lang="en-US"/>
              <a:t>"Finally, in the Evaluation Phase, we use the pre-trained Context Encoder for Action Classification. We evaluate our results using a Confusion Matrix and visualize the learned features through t-SNE to demonstrate how well the model clusters different human actions."</a:t>
            </a:r>
          </a:p>
          <a:p>
            <a:r>
              <a:rPr lang="en-US"/>
              <a:t>Từ khóa: Linear probing (thử nghiệm tuyến tính), Clusters (phân cụm).</a:t>
            </a:r>
          </a:p>
          <a:p>
            <a:r>
              <a:rPr lang="en-US"/>
              <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8064" y="407156"/>
            <a:ext cx="4761176" cy="1729616"/>
            <a:chOff x="0" y="0"/>
            <a:chExt cx="6348235" cy="2306155"/>
          </a:xfrm>
        </p:grpSpPr>
        <p:sp>
          <p:nvSpPr>
            <p:cNvPr name="Freeform 4" id="4" descr="Text  Description automatically generated"/>
            <p:cNvSpPr/>
            <p:nvPr/>
          </p:nvSpPr>
          <p:spPr>
            <a:xfrm flipH="false" flipV="false" rot="0">
              <a:off x="0" y="0"/>
              <a:ext cx="6348222" cy="2306193"/>
            </a:xfrm>
            <a:custGeom>
              <a:avLst/>
              <a:gdLst/>
              <a:ahLst/>
              <a:cxnLst/>
              <a:rect r="r" b="b" t="t" l="l"/>
              <a:pathLst>
                <a:path h="2306193" w="6348222">
                  <a:moveTo>
                    <a:pt x="0" y="0"/>
                  </a:moveTo>
                  <a:lnTo>
                    <a:pt x="6348222" y="0"/>
                  </a:lnTo>
                  <a:lnTo>
                    <a:pt x="6348222" y="2306193"/>
                  </a:lnTo>
                  <a:lnTo>
                    <a:pt x="0" y="2306193"/>
                  </a:lnTo>
                  <a:lnTo>
                    <a:pt x="0" y="0"/>
                  </a:lnTo>
                  <a:close/>
                </a:path>
              </a:pathLst>
            </a:custGeom>
            <a:blipFill>
              <a:blip r:embed="rId3"/>
              <a:stretch>
                <a:fillRect l="0" t="-14" r="0" b="-13"/>
              </a:stretch>
            </a:blipFill>
          </p:spPr>
        </p:sp>
      </p:grpSp>
      <p:sp>
        <p:nvSpPr>
          <p:cNvPr name="TextBox 5" id="5"/>
          <p:cNvSpPr txBox="true"/>
          <p:nvPr/>
        </p:nvSpPr>
        <p:spPr>
          <a:xfrm rot="0">
            <a:off x="710711" y="2108197"/>
            <a:ext cx="15435535" cy="7000875"/>
          </a:xfrm>
          <a:prstGeom prst="rect">
            <a:avLst/>
          </a:prstGeom>
        </p:spPr>
        <p:txBody>
          <a:bodyPr anchor="t" rtlCol="false" tIns="0" lIns="0" bIns="0" rIns="0">
            <a:spAutoFit/>
          </a:bodyPr>
          <a:lstStyle/>
          <a:p>
            <a:pPr algn="l">
              <a:lnSpc>
                <a:spcPts val="7200"/>
              </a:lnSpc>
            </a:pPr>
            <a:r>
              <a:rPr lang="en-US" sz="6000" b="true">
                <a:solidFill>
                  <a:srgbClr val="000000"/>
                </a:solidFill>
                <a:latin typeface="Arial Bold"/>
                <a:ea typeface="Arial Bold"/>
                <a:cs typeface="Arial Bold"/>
                <a:sym typeface="Arial Bold"/>
              </a:rPr>
              <a:t>Kine</a:t>
            </a:r>
            <a:r>
              <a:rPr lang="en-US" sz="6000" b="true">
                <a:solidFill>
                  <a:srgbClr val="000000"/>
                </a:solidFill>
                <a:latin typeface="Arial Bold"/>
                <a:ea typeface="Arial Bold"/>
                <a:cs typeface="Arial Bold"/>
                <a:sym typeface="Arial Bold"/>
              </a:rPr>
              <a:t>matic Analysis and Explainability of the S-JEPA Architecture on the </a:t>
            </a:r>
          </a:p>
          <a:p>
            <a:pPr algn="l">
              <a:lnSpc>
                <a:spcPts val="7200"/>
              </a:lnSpc>
            </a:pPr>
            <a:r>
              <a:rPr lang="en-US" sz="6000" b="true">
                <a:solidFill>
                  <a:srgbClr val="000000"/>
                </a:solidFill>
                <a:latin typeface="Arial Bold"/>
                <a:ea typeface="Arial Bold"/>
                <a:cs typeface="Arial Bold"/>
                <a:sym typeface="Arial Bold"/>
              </a:rPr>
              <a:t>NTU RGB+D 120 Dataset</a:t>
            </a:r>
          </a:p>
          <a:p>
            <a:pPr algn="l">
              <a:lnSpc>
                <a:spcPts val="3240"/>
              </a:lnSpc>
            </a:pPr>
          </a:p>
          <a:p>
            <a:pPr algn="l">
              <a:lnSpc>
                <a:spcPts val="4320"/>
              </a:lnSpc>
            </a:pPr>
            <a:r>
              <a:rPr lang="en-US" sz="3600" b="true">
                <a:solidFill>
                  <a:srgbClr val="000000"/>
                </a:solidFill>
                <a:latin typeface="Arial Bold"/>
                <a:ea typeface="Arial Bold"/>
                <a:cs typeface="Arial Bold"/>
                <a:sym typeface="Arial Bold"/>
              </a:rPr>
              <a:t>Group 15</a:t>
            </a:r>
          </a:p>
          <a:p>
            <a:pPr algn="l">
              <a:lnSpc>
                <a:spcPts val="3240"/>
              </a:lnSpc>
            </a:pPr>
            <a:r>
              <a:rPr lang="en-US" sz="2700">
                <a:solidFill>
                  <a:srgbClr val="000000"/>
                </a:solidFill>
                <a:latin typeface="Arial"/>
                <a:ea typeface="Arial"/>
                <a:cs typeface="Arial"/>
                <a:sym typeface="Arial"/>
              </a:rPr>
              <a:t>Nguyễn Quang Tùng – 20233884</a:t>
            </a:r>
          </a:p>
          <a:p>
            <a:pPr algn="l">
              <a:lnSpc>
                <a:spcPts val="3240"/>
              </a:lnSpc>
            </a:pPr>
            <a:r>
              <a:rPr lang="en-US" sz="2700">
                <a:solidFill>
                  <a:srgbClr val="000000"/>
                </a:solidFill>
                <a:latin typeface="Arial"/>
                <a:ea typeface="Arial"/>
                <a:cs typeface="Arial"/>
                <a:sym typeface="Arial"/>
              </a:rPr>
              <a:t>Đỗ Nguyễn Anh Đức – 202414618</a:t>
            </a:r>
          </a:p>
          <a:p>
            <a:pPr algn="l">
              <a:lnSpc>
                <a:spcPts val="3240"/>
              </a:lnSpc>
            </a:pPr>
            <a:r>
              <a:rPr lang="en-US" sz="2700">
                <a:solidFill>
                  <a:srgbClr val="000000"/>
                </a:solidFill>
                <a:latin typeface="Arial"/>
                <a:ea typeface="Arial"/>
                <a:cs typeface="Arial"/>
                <a:sym typeface="Arial"/>
              </a:rPr>
              <a:t>Nguyễn Thị Thúy Huyền – 20233854</a:t>
            </a:r>
          </a:p>
          <a:p>
            <a:pPr algn="l">
              <a:lnSpc>
                <a:spcPts val="3240"/>
              </a:lnSpc>
            </a:pPr>
          </a:p>
          <a:p>
            <a:pPr algn="l">
              <a:lnSpc>
                <a:spcPts val="3240"/>
              </a:lnSpc>
            </a:pPr>
            <a:r>
              <a:rPr lang="en-US" sz="2700" b="true">
                <a:solidFill>
                  <a:srgbClr val="000000"/>
                </a:solidFill>
                <a:latin typeface="Arial Bold"/>
                <a:ea typeface="Arial Bold"/>
                <a:cs typeface="Arial Bold"/>
                <a:sym typeface="Arial Bold"/>
              </a:rPr>
              <a:t>Supervisors</a:t>
            </a:r>
          </a:p>
          <a:p>
            <a:pPr algn="l">
              <a:lnSpc>
                <a:spcPts val="3240"/>
              </a:lnSpc>
            </a:pPr>
            <a:r>
              <a:rPr lang="en-US" sz="2700">
                <a:solidFill>
                  <a:srgbClr val="000000"/>
                </a:solidFill>
                <a:latin typeface="Arial"/>
                <a:ea typeface="Arial"/>
                <a:cs typeface="Arial"/>
                <a:sym typeface="Arial"/>
              </a:rPr>
              <a:t>Assoc.Prof. Trần Thị Thanh Hải</a:t>
            </a:r>
          </a:p>
          <a:p>
            <a:pPr algn="l">
              <a:lnSpc>
                <a:spcPts val="3240"/>
              </a:lnSpc>
            </a:pPr>
            <a:r>
              <a:rPr lang="en-US" sz="2700">
                <a:solidFill>
                  <a:srgbClr val="000000"/>
                </a:solidFill>
                <a:latin typeface="Arial"/>
                <a:ea typeface="Arial"/>
                <a:cs typeface="Arial"/>
                <a:sym typeface="Arial"/>
              </a:rPr>
              <a:t>TA. Bùi Hạnh Trang</a:t>
            </a:r>
          </a:p>
          <a:p>
            <a:pPr algn="l">
              <a:lnSpc>
                <a:spcPts val="3240"/>
              </a:lnSpc>
            </a:pPr>
          </a:p>
        </p:txBody>
      </p:sp>
      <p:sp>
        <p:nvSpPr>
          <p:cNvPr name="TextBox 6" id="6"/>
          <p:cNvSpPr txBox="true"/>
          <p:nvPr/>
        </p:nvSpPr>
        <p:spPr>
          <a:xfrm rot="0">
            <a:off x="16779240" y="9564367"/>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2713825" y="3083766"/>
            <a:ext cx="5574175" cy="6543999"/>
          </a:xfrm>
          <a:custGeom>
            <a:avLst/>
            <a:gdLst/>
            <a:ahLst/>
            <a:cxnLst/>
            <a:rect r="r" b="b" t="t" l="l"/>
            <a:pathLst>
              <a:path h="6543999" w="5574175">
                <a:moveTo>
                  <a:pt x="0" y="0"/>
                </a:moveTo>
                <a:lnTo>
                  <a:pt x="5574175" y="0"/>
                </a:lnTo>
                <a:lnTo>
                  <a:pt x="5574175" y="6543999"/>
                </a:lnTo>
                <a:lnTo>
                  <a:pt x="0" y="6543999"/>
                </a:lnTo>
                <a:lnTo>
                  <a:pt x="0" y="0"/>
                </a:lnTo>
                <a:close/>
              </a:path>
            </a:pathLst>
          </a:custGeom>
          <a:blipFill>
            <a:blip r:embed="rId3"/>
            <a:stretch>
              <a:fillRect l="0" t="0" r="-8525" b="0"/>
            </a:stretch>
          </a:blipFill>
        </p:spPr>
      </p:sp>
      <p:sp>
        <p:nvSpPr>
          <p:cNvPr name="TextBox 4" id="4"/>
          <p:cNvSpPr txBox="true"/>
          <p:nvPr/>
        </p:nvSpPr>
        <p:spPr>
          <a:xfrm rot="0">
            <a:off x="378352" y="1373530"/>
            <a:ext cx="17909648" cy="8684321"/>
          </a:xfrm>
          <a:prstGeom prst="rect">
            <a:avLst/>
          </a:prstGeom>
        </p:spPr>
        <p:txBody>
          <a:bodyPr anchor="t" rtlCol="false" tIns="0" lIns="0" bIns="0" rIns="0">
            <a:spAutoFit/>
          </a:bodyPr>
          <a:lstStyle/>
          <a:p>
            <a:pPr algn="l">
              <a:lnSpc>
                <a:spcPts val="4277"/>
              </a:lnSpc>
              <a:spcBef>
                <a:spcPct val="0"/>
              </a:spcBef>
            </a:pPr>
            <a:r>
              <a:rPr lang="en-US" b="true" sz="3564">
                <a:solidFill>
                  <a:srgbClr val="000000"/>
                </a:solidFill>
                <a:latin typeface="Arial Bold"/>
                <a:ea typeface="Arial Bold"/>
                <a:cs typeface="Arial Bold"/>
                <a:sym typeface="Arial Bold"/>
              </a:rPr>
              <a:t>Obje</a:t>
            </a:r>
            <a:r>
              <a:rPr lang="en-US" b="true" sz="3564">
                <a:solidFill>
                  <a:srgbClr val="000000"/>
                </a:solidFill>
                <a:latin typeface="Arial Bold"/>
                <a:ea typeface="Arial Bold"/>
                <a:cs typeface="Arial Bold"/>
                <a:sym typeface="Arial Bold"/>
              </a:rPr>
              <a:t>ctive</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Develop a deep learning pipeline for skeleton-based human action analysis using the NTU RGB+D 120 dataset and the S-JEPA framework.</a:t>
            </a:r>
          </a:p>
          <a:p>
            <a:pPr algn="l">
              <a:lnSpc>
                <a:spcPts val="4277"/>
              </a:lnSpc>
              <a:spcBef>
                <a:spcPct val="0"/>
              </a:spcBef>
            </a:pPr>
            <a:r>
              <a:rPr lang="en-US" b="true" sz="3564">
                <a:solidFill>
                  <a:srgbClr val="000000"/>
                </a:solidFill>
                <a:latin typeface="Arial Bold"/>
                <a:ea typeface="Arial Bold"/>
                <a:cs typeface="Arial Bold"/>
                <a:sym typeface="Arial Bold"/>
              </a:rPr>
              <a:t>Project Scope </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Analyze</a:t>
            </a:r>
            <a:r>
              <a:rPr lang="en-US" sz="3564">
                <a:solidFill>
                  <a:srgbClr val="000000"/>
                </a:solidFill>
                <a:latin typeface="Arial"/>
                <a:ea typeface="Arial"/>
                <a:cs typeface="Arial"/>
                <a:sym typeface="Arial"/>
              </a:rPr>
              <a:t> skeleton-based human motion data.</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Explore spatial and temporal motion characteristics.</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Prepare high-quality data for S-JEPA representation learning.</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Improve the interpretability of learned motion representations.</a:t>
            </a:r>
          </a:p>
          <a:p>
            <a:pPr algn="l">
              <a:lnSpc>
                <a:spcPts val="4277"/>
              </a:lnSpc>
              <a:spcBef>
                <a:spcPct val="0"/>
              </a:spcBef>
            </a:pPr>
            <a:r>
              <a:rPr lang="en-US" b="true" sz="3564">
                <a:solidFill>
                  <a:srgbClr val="000000"/>
                </a:solidFill>
                <a:latin typeface="Arial Bold"/>
                <a:ea typeface="Arial Bold"/>
                <a:cs typeface="Arial Bold"/>
                <a:sym typeface="Arial Bold"/>
              </a:rPr>
              <a:t>Dataset</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NTU RGB+D 120</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114,480 skeleton sequences</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120 action classes</a:t>
            </a:r>
          </a:p>
          <a:p>
            <a:pPr algn="l" marL="769528" indent="-384764" lvl="1">
              <a:lnSpc>
                <a:spcPts val="4277"/>
              </a:lnSpc>
              <a:spcBef>
                <a:spcPct val="0"/>
              </a:spcBef>
              <a:buFont typeface="Arial"/>
              <a:buChar char="•"/>
            </a:pPr>
            <a:r>
              <a:rPr lang="en-US" sz="3564">
                <a:solidFill>
                  <a:srgbClr val="000000"/>
                </a:solidFill>
                <a:latin typeface="Arial"/>
                <a:ea typeface="Arial"/>
                <a:cs typeface="Arial"/>
                <a:sym typeface="Arial"/>
              </a:rPr>
              <a:t>25 body joints (x, y, z).</a:t>
            </a:r>
          </a:p>
          <a:p>
            <a:pPr algn="l">
              <a:lnSpc>
                <a:spcPts val="4277"/>
              </a:lnSpc>
              <a:spcBef>
                <a:spcPct val="0"/>
              </a:spcBef>
            </a:pPr>
          </a:p>
          <a:p>
            <a:pPr algn="l">
              <a:lnSpc>
                <a:spcPts val="4277"/>
              </a:lnSpc>
              <a:spcBef>
                <a:spcPct val="0"/>
              </a:spcBef>
            </a:pPr>
          </a:p>
          <a:p>
            <a:pPr algn="l">
              <a:lnSpc>
                <a:spcPts val="4277"/>
              </a:lnSpc>
              <a:spcBef>
                <a:spcPct val="0"/>
              </a:spcBef>
            </a:pPr>
          </a:p>
        </p:txBody>
      </p:sp>
      <p:sp>
        <p:nvSpPr>
          <p:cNvPr name="TextBox 5" id="5"/>
          <p:cNvSpPr txBox="true"/>
          <p:nvPr/>
        </p:nvSpPr>
        <p:spPr>
          <a:xfrm rot="0">
            <a:off x="378352" y="160153"/>
            <a:ext cx="4741545" cy="657225"/>
          </a:xfrm>
          <a:prstGeom prst="rect">
            <a:avLst/>
          </a:prstGeom>
        </p:spPr>
        <p:txBody>
          <a:bodyPr anchor="t" rtlCol="false" tIns="0" lIns="0" bIns="0" rIns="0">
            <a:spAutoFit/>
          </a:bodyPr>
          <a:lstStyle/>
          <a:p>
            <a:pPr algn="l">
              <a:lnSpc>
                <a:spcPts val="5040"/>
              </a:lnSpc>
            </a:pPr>
            <a:r>
              <a:rPr lang="en-US" sz="4200" b="true">
                <a:solidFill>
                  <a:srgbClr val="FFFFFF"/>
                </a:solidFill>
                <a:latin typeface="Arial Bold"/>
                <a:ea typeface="Arial Bold"/>
                <a:cs typeface="Arial Bold"/>
                <a:sym typeface="Arial Bold"/>
              </a:rPr>
              <a:t>Problem Definition</a:t>
            </a:r>
          </a:p>
        </p:txBody>
      </p:sp>
      <p:sp>
        <p:nvSpPr>
          <p:cNvPr name="TextBox 6" id="6"/>
          <p:cNvSpPr txBox="true"/>
          <p:nvPr/>
        </p:nvSpPr>
        <p:spPr>
          <a:xfrm rot="0">
            <a:off x="17010145" y="9760639"/>
            <a:ext cx="452123" cy="4816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891374" y="1315065"/>
            <a:ext cx="11396626" cy="4214979"/>
          </a:xfrm>
          <a:custGeom>
            <a:avLst/>
            <a:gdLst/>
            <a:ahLst/>
            <a:cxnLst/>
            <a:rect r="r" b="b" t="t" l="l"/>
            <a:pathLst>
              <a:path h="4214979" w="11396626">
                <a:moveTo>
                  <a:pt x="0" y="0"/>
                </a:moveTo>
                <a:lnTo>
                  <a:pt x="11396626" y="0"/>
                </a:lnTo>
                <a:lnTo>
                  <a:pt x="11396626" y="4214980"/>
                </a:lnTo>
                <a:lnTo>
                  <a:pt x="0" y="4214980"/>
                </a:lnTo>
                <a:lnTo>
                  <a:pt x="0" y="0"/>
                </a:lnTo>
                <a:close/>
              </a:path>
            </a:pathLst>
          </a:custGeom>
          <a:blipFill>
            <a:blip r:embed="rId3"/>
            <a:stretch>
              <a:fillRect l="0" t="0" r="0" b="0"/>
            </a:stretch>
          </a:blipFill>
        </p:spPr>
      </p:sp>
      <p:sp>
        <p:nvSpPr>
          <p:cNvPr name="Freeform 4" id="4"/>
          <p:cNvSpPr/>
          <p:nvPr/>
        </p:nvSpPr>
        <p:spPr>
          <a:xfrm flipH="false" flipV="false" rot="0">
            <a:off x="7684385" y="5530045"/>
            <a:ext cx="3944341" cy="3964813"/>
          </a:xfrm>
          <a:custGeom>
            <a:avLst/>
            <a:gdLst/>
            <a:ahLst/>
            <a:cxnLst/>
            <a:rect r="r" b="b" t="t" l="l"/>
            <a:pathLst>
              <a:path h="3964813" w="3944341">
                <a:moveTo>
                  <a:pt x="0" y="0"/>
                </a:moveTo>
                <a:lnTo>
                  <a:pt x="3944341" y="0"/>
                </a:lnTo>
                <a:lnTo>
                  <a:pt x="3944341" y="3964813"/>
                </a:lnTo>
                <a:lnTo>
                  <a:pt x="0" y="3964813"/>
                </a:lnTo>
                <a:lnTo>
                  <a:pt x="0" y="0"/>
                </a:lnTo>
                <a:close/>
              </a:path>
            </a:pathLst>
          </a:custGeom>
          <a:blipFill>
            <a:blip r:embed="rId4"/>
            <a:stretch>
              <a:fillRect l="0" t="0" r="0" b="0"/>
            </a:stretch>
          </a:blipFill>
        </p:spPr>
      </p:sp>
      <p:sp>
        <p:nvSpPr>
          <p:cNvPr name="Freeform 5" id="5"/>
          <p:cNvSpPr/>
          <p:nvPr/>
        </p:nvSpPr>
        <p:spPr>
          <a:xfrm flipH="false" flipV="false" rot="0">
            <a:off x="12138516" y="5615151"/>
            <a:ext cx="5611164" cy="3794600"/>
          </a:xfrm>
          <a:custGeom>
            <a:avLst/>
            <a:gdLst/>
            <a:ahLst/>
            <a:cxnLst/>
            <a:rect r="r" b="b" t="t" l="l"/>
            <a:pathLst>
              <a:path h="3794600" w="5611164">
                <a:moveTo>
                  <a:pt x="0" y="0"/>
                </a:moveTo>
                <a:lnTo>
                  <a:pt x="5611164" y="0"/>
                </a:lnTo>
                <a:lnTo>
                  <a:pt x="5611164" y="3794600"/>
                </a:lnTo>
                <a:lnTo>
                  <a:pt x="0" y="3794600"/>
                </a:lnTo>
                <a:lnTo>
                  <a:pt x="0" y="0"/>
                </a:lnTo>
                <a:close/>
              </a:path>
            </a:pathLst>
          </a:custGeom>
          <a:blipFill>
            <a:blip r:embed="rId5"/>
            <a:stretch>
              <a:fillRect l="0" t="0" r="0" b="0"/>
            </a:stretch>
          </a:blipFill>
        </p:spPr>
      </p:sp>
      <p:sp>
        <p:nvSpPr>
          <p:cNvPr name="TextBox 6" id="6"/>
          <p:cNvSpPr txBox="true"/>
          <p:nvPr/>
        </p:nvSpPr>
        <p:spPr>
          <a:xfrm rot="0">
            <a:off x="378352" y="160153"/>
            <a:ext cx="8240435" cy="657225"/>
          </a:xfrm>
          <a:prstGeom prst="rect">
            <a:avLst/>
          </a:prstGeom>
        </p:spPr>
        <p:txBody>
          <a:bodyPr anchor="t" rtlCol="false" tIns="0" lIns="0" bIns="0" rIns="0">
            <a:spAutoFit/>
          </a:bodyPr>
          <a:lstStyle/>
          <a:p>
            <a:pPr algn="l">
              <a:lnSpc>
                <a:spcPts val="5040"/>
              </a:lnSpc>
            </a:pPr>
            <a:r>
              <a:rPr lang="en-US" sz="4200" b="true">
                <a:solidFill>
                  <a:srgbClr val="FFFFFF"/>
                </a:solidFill>
                <a:latin typeface="Arial Bold"/>
                <a:ea typeface="Arial Bold"/>
                <a:cs typeface="Arial Bold"/>
                <a:sym typeface="Arial Bold"/>
              </a:rPr>
              <a:t>Exploratory Data Analysis (EDA)</a:t>
            </a:r>
          </a:p>
        </p:txBody>
      </p:sp>
      <p:sp>
        <p:nvSpPr>
          <p:cNvPr name="TextBox 7" id="7"/>
          <p:cNvSpPr txBox="true"/>
          <p:nvPr/>
        </p:nvSpPr>
        <p:spPr>
          <a:xfrm rot="0">
            <a:off x="17010145" y="9760639"/>
            <a:ext cx="452123" cy="4816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2</a:t>
            </a:r>
          </a:p>
        </p:txBody>
      </p:sp>
      <p:sp>
        <p:nvSpPr>
          <p:cNvPr name="TextBox 8" id="8"/>
          <p:cNvSpPr txBox="true"/>
          <p:nvPr/>
        </p:nvSpPr>
        <p:spPr>
          <a:xfrm rot="0">
            <a:off x="378352" y="1440909"/>
            <a:ext cx="7306033" cy="5972175"/>
          </a:xfrm>
          <a:prstGeom prst="rect">
            <a:avLst/>
          </a:prstGeom>
        </p:spPr>
        <p:txBody>
          <a:bodyPr anchor="t" rtlCol="false" tIns="0" lIns="0" bIns="0" rIns="0">
            <a:spAutoFit/>
          </a:bodyPr>
          <a:lstStyle/>
          <a:p>
            <a:pPr algn="l">
              <a:lnSpc>
                <a:spcPts val="3910"/>
              </a:lnSpc>
              <a:spcBef>
                <a:spcPct val="0"/>
              </a:spcBef>
            </a:pPr>
            <a:r>
              <a:rPr lang="en-US" b="true" sz="3259">
                <a:solidFill>
                  <a:srgbClr val="000000"/>
                </a:solidFill>
                <a:latin typeface="Arial Bold"/>
                <a:ea typeface="Arial Bold"/>
                <a:cs typeface="Arial Bold"/>
                <a:sym typeface="Arial Bold"/>
              </a:rPr>
              <a:t>Dataset Analysis</a:t>
            </a:r>
          </a:p>
          <a:p>
            <a:pPr algn="l" marL="703652" indent="-351826" lvl="1">
              <a:lnSpc>
                <a:spcPts val="3910"/>
              </a:lnSpc>
              <a:spcBef>
                <a:spcPct val="0"/>
              </a:spcBef>
              <a:buFont typeface="Arial"/>
              <a:buChar char="•"/>
            </a:pPr>
            <a:r>
              <a:rPr lang="en-US" sz="3259">
                <a:solidFill>
                  <a:srgbClr val="000000"/>
                </a:solidFill>
                <a:latin typeface="Arial"/>
                <a:ea typeface="Arial"/>
                <a:cs typeface="Arial"/>
                <a:sym typeface="Arial"/>
              </a:rPr>
              <a:t>Cl</a:t>
            </a:r>
            <a:r>
              <a:rPr lang="en-US" sz="3259">
                <a:solidFill>
                  <a:srgbClr val="000000"/>
                </a:solidFill>
                <a:latin typeface="Arial"/>
                <a:ea typeface="Arial"/>
                <a:cs typeface="Arial"/>
                <a:sym typeface="Arial"/>
              </a:rPr>
              <a:t>ass Distribution</a:t>
            </a:r>
          </a:p>
          <a:p>
            <a:pPr algn="l" marL="703652" indent="-351826" lvl="1">
              <a:lnSpc>
                <a:spcPts val="3910"/>
              </a:lnSpc>
              <a:buFont typeface="Arial"/>
              <a:buChar char="•"/>
            </a:pPr>
            <a:r>
              <a:rPr lang="en-US" sz="3259">
                <a:solidFill>
                  <a:srgbClr val="000000"/>
                </a:solidFill>
                <a:latin typeface="Arial"/>
                <a:ea typeface="Arial"/>
                <a:cs typeface="Arial"/>
                <a:sym typeface="Arial"/>
              </a:rPr>
              <a:t>Action Group</a:t>
            </a:r>
            <a:r>
              <a:rPr lang="en-US" sz="3259">
                <a:solidFill>
                  <a:srgbClr val="000000"/>
                </a:solidFill>
                <a:latin typeface="Arial"/>
                <a:ea typeface="Arial"/>
                <a:cs typeface="Arial"/>
                <a:sym typeface="Arial"/>
              </a:rPr>
              <a:t> Distribution</a:t>
            </a:r>
          </a:p>
          <a:p>
            <a:pPr algn="l" marL="703652" indent="-351826" lvl="1">
              <a:lnSpc>
                <a:spcPts val="3910"/>
              </a:lnSpc>
              <a:buFont typeface="Arial"/>
              <a:buChar char="•"/>
            </a:pPr>
            <a:r>
              <a:rPr lang="en-US" sz="3259">
                <a:solidFill>
                  <a:srgbClr val="000000"/>
                </a:solidFill>
                <a:latin typeface="Arial"/>
                <a:ea typeface="Arial"/>
                <a:cs typeface="Arial"/>
                <a:sym typeface="Arial"/>
              </a:rPr>
              <a:t>Sequence Length Analysis</a:t>
            </a:r>
          </a:p>
          <a:p>
            <a:pPr algn="l">
              <a:lnSpc>
                <a:spcPts val="3910"/>
              </a:lnSpc>
            </a:pPr>
            <a:r>
              <a:rPr lang="en-US" b="true" sz="3259">
                <a:solidFill>
                  <a:srgbClr val="000000"/>
                </a:solidFill>
                <a:latin typeface="Arial Bold"/>
                <a:ea typeface="Arial Bold"/>
                <a:cs typeface="Arial Bold"/>
                <a:sym typeface="Arial Bold"/>
              </a:rPr>
              <a:t>Data Quality Assessment</a:t>
            </a:r>
          </a:p>
          <a:p>
            <a:pPr algn="l" marL="703652" indent="-351826" lvl="1">
              <a:lnSpc>
                <a:spcPts val="3910"/>
              </a:lnSpc>
              <a:buFont typeface="Arial"/>
              <a:buChar char="•"/>
            </a:pPr>
            <a:r>
              <a:rPr lang="en-US" sz="3259">
                <a:solidFill>
                  <a:srgbClr val="000000"/>
                </a:solidFill>
                <a:latin typeface="Arial"/>
                <a:ea typeface="Arial"/>
                <a:cs typeface="Arial"/>
                <a:sym typeface="Arial"/>
              </a:rPr>
              <a:t>Missing / Short Sequences</a:t>
            </a:r>
          </a:p>
          <a:p>
            <a:pPr algn="l" marL="703652" indent="-351826" lvl="1">
              <a:lnSpc>
                <a:spcPts val="3910"/>
              </a:lnSpc>
              <a:buFont typeface="Arial"/>
              <a:buChar char="•"/>
            </a:pPr>
            <a:r>
              <a:rPr lang="en-US" sz="3259">
                <a:solidFill>
                  <a:srgbClr val="000000"/>
                </a:solidFill>
                <a:latin typeface="Arial"/>
                <a:ea typeface="Arial"/>
                <a:cs typeface="Arial"/>
                <a:sym typeface="Arial"/>
              </a:rPr>
              <a:t>High Completeness</a:t>
            </a:r>
          </a:p>
          <a:p>
            <a:pPr algn="l" marL="703652" indent="-351826" lvl="1">
              <a:lnSpc>
                <a:spcPts val="3910"/>
              </a:lnSpc>
              <a:buFont typeface="Arial"/>
              <a:buChar char="•"/>
            </a:pPr>
            <a:r>
              <a:rPr lang="en-US" sz="3259">
                <a:solidFill>
                  <a:srgbClr val="000000"/>
                </a:solidFill>
                <a:latin typeface="Arial"/>
                <a:ea typeface="Arial"/>
                <a:cs typeface="Arial"/>
                <a:sym typeface="Arial"/>
              </a:rPr>
              <a:t>Consistent Skeleton Representation</a:t>
            </a:r>
          </a:p>
          <a:p>
            <a:pPr algn="l">
              <a:lnSpc>
                <a:spcPts val="3910"/>
              </a:lnSpc>
            </a:pPr>
            <a:r>
              <a:rPr lang="en-US" b="true" sz="3259">
                <a:solidFill>
                  <a:srgbClr val="000000"/>
                </a:solidFill>
                <a:latin typeface="Arial Bold"/>
                <a:ea typeface="Arial Bold"/>
                <a:cs typeface="Arial Bold"/>
                <a:sym typeface="Arial Bold"/>
              </a:rPr>
              <a:t>Applied Techniques</a:t>
            </a:r>
          </a:p>
          <a:p>
            <a:pPr algn="l" marL="703652" indent="-351826" lvl="1">
              <a:lnSpc>
                <a:spcPts val="3910"/>
              </a:lnSpc>
              <a:spcBef>
                <a:spcPct val="0"/>
              </a:spcBef>
              <a:buFont typeface="Arial"/>
              <a:buChar char="•"/>
            </a:pPr>
            <a:r>
              <a:rPr lang="en-US" sz="3259">
                <a:solidFill>
                  <a:srgbClr val="000000"/>
                </a:solidFill>
                <a:latin typeface="Arial"/>
                <a:ea typeface="Arial"/>
                <a:cs typeface="Arial"/>
                <a:sym typeface="Arial"/>
              </a:rPr>
              <a:t>Distrib</a:t>
            </a:r>
            <a:r>
              <a:rPr lang="en-US" sz="3259">
                <a:solidFill>
                  <a:srgbClr val="000000"/>
                </a:solidFill>
                <a:latin typeface="Arial"/>
                <a:ea typeface="Arial"/>
                <a:cs typeface="Arial"/>
                <a:sym typeface="Arial"/>
              </a:rPr>
              <a:t>ution Analysis</a:t>
            </a:r>
          </a:p>
          <a:p>
            <a:pPr algn="l" marL="703652" indent="-351826" lvl="1">
              <a:lnSpc>
                <a:spcPts val="3910"/>
              </a:lnSpc>
              <a:buFont typeface="Arial"/>
              <a:buChar char="•"/>
            </a:pPr>
            <a:r>
              <a:rPr lang="en-US" sz="3259">
                <a:solidFill>
                  <a:srgbClr val="000000"/>
                </a:solidFill>
                <a:latin typeface="Arial"/>
                <a:ea typeface="Arial"/>
                <a:cs typeface="Arial"/>
                <a:sym typeface="Arial"/>
              </a:rPr>
              <a:t>Mi</a:t>
            </a:r>
            <a:r>
              <a:rPr lang="en-US" sz="3259">
                <a:solidFill>
                  <a:srgbClr val="000000"/>
                </a:solidFill>
                <a:latin typeface="Arial"/>
                <a:ea typeface="Arial"/>
                <a:cs typeface="Arial"/>
                <a:sym typeface="Arial"/>
              </a:rPr>
              <a:t>ssing Data Analysis</a:t>
            </a:r>
          </a:p>
          <a:p>
            <a:pPr algn="l" marL="703652" indent="-351826" lvl="1">
              <a:lnSpc>
                <a:spcPts val="3910"/>
              </a:lnSpc>
              <a:buFont typeface="Arial"/>
              <a:buChar char="•"/>
            </a:pPr>
            <a:r>
              <a:rPr lang="en-US" sz="3259">
                <a:solidFill>
                  <a:srgbClr val="000000"/>
                </a:solidFill>
                <a:latin typeface="Arial"/>
                <a:ea typeface="Arial"/>
                <a:cs typeface="Arial"/>
                <a:sym typeface="Arial"/>
              </a:rPr>
              <a:t>Data Quality Assessment</a:t>
            </a:r>
          </a:p>
        </p:txBody>
      </p:sp>
      <p:sp>
        <p:nvSpPr>
          <p:cNvPr name="TextBox 9" id="9"/>
          <p:cNvSpPr txBox="true"/>
          <p:nvPr/>
        </p:nvSpPr>
        <p:spPr>
          <a:xfrm rot="0">
            <a:off x="378352" y="7691081"/>
            <a:ext cx="6217840" cy="1247775"/>
          </a:xfrm>
          <a:prstGeom prst="rect">
            <a:avLst/>
          </a:prstGeom>
        </p:spPr>
        <p:txBody>
          <a:bodyPr anchor="t" rtlCol="false" tIns="0" lIns="0" bIns="0" rIns="0">
            <a:spAutoFit/>
          </a:bodyPr>
          <a:lstStyle/>
          <a:p>
            <a:pPr algn="l">
              <a:lnSpc>
                <a:spcPts val="3240"/>
              </a:lnSpc>
              <a:spcBef>
                <a:spcPct val="0"/>
              </a:spcBef>
            </a:pPr>
            <a:r>
              <a:rPr lang="en-US" b="true" sz="2700">
                <a:solidFill>
                  <a:srgbClr val="000000"/>
                </a:solidFill>
                <a:latin typeface="Arial Bold"/>
                <a:ea typeface="Arial Bold"/>
                <a:cs typeface="Arial Bold"/>
                <a:sym typeface="Arial Bold"/>
              </a:rPr>
              <a:t>The dataset is balanced, high-quality, and suitable for skeleton-based representation learning.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082212" y="1550012"/>
            <a:ext cx="6816230" cy="3966466"/>
          </a:xfrm>
          <a:custGeom>
            <a:avLst/>
            <a:gdLst/>
            <a:ahLst/>
            <a:cxnLst/>
            <a:rect r="r" b="b" t="t" l="l"/>
            <a:pathLst>
              <a:path h="3966466" w="6816230">
                <a:moveTo>
                  <a:pt x="0" y="0"/>
                </a:moveTo>
                <a:lnTo>
                  <a:pt x="6816230" y="0"/>
                </a:lnTo>
                <a:lnTo>
                  <a:pt x="6816230" y="3966466"/>
                </a:lnTo>
                <a:lnTo>
                  <a:pt x="0" y="3966466"/>
                </a:lnTo>
                <a:lnTo>
                  <a:pt x="0" y="0"/>
                </a:lnTo>
                <a:close/>
              </a:path>
            </a:pathLst>
          </a:custGeom>
          <a:blipFill>
            <a:blip r:embed="rId3"/>
            <a:stretch>
              <a:fillRect l="0" t="0" r="0" b="0"/>
            </a:stretch>
          </a:blipFill>
        </p:spPr>
      </p:sp>
      <p:sp>
        <p:nvSpPr>
          <p:cNvPr name="Freeform 4" id="4"/>
          <p:cNvSpPr/>
          <p:nvPr/>
        </p:nvSpPr>
        <p:spPr>
          <a:xfrm flipH="false" flipV="false" rot="0">
            <a:off x="13132509" y="1550012"/>
            <a:ext cx="5155491" cy="3966320"/>
          </a:xfrm>
          <a:custGeom>
            <a:avLst/>
            <a:gdLst/>
            <a:ahLst/>
            <a:cxnLst/>
            <a:rect r="r" b="b" t="t" l="l"/>
            <a:pathLst>
              <a:path h="3966320" w="5155491">
                <a:moveTo>
                  <a:pt x="0" y="0"/>
                </a:moveTo>
                <a:lnTo>
                  <a:pt x="5155491" y="0"/>
                </a:lnTo>
                <a:lnTo>
                  <a:pt x="5155491" y="3966320"/>
                </a:lnTo>
                <a:lnTo>
                  <a:pt x="0" y="3966320"/>
                </a:lnTo>
                <a:lnTo>
                  <a:pt x="0" y="0"/>
                </a:lnTo>
                <a:close/>
              </a:path>
            </a:pathLst>
          </a:custGeom>
          <a:blipFill>
            <a:blip r:embed="rId4"/>
            <a:stretch>
              <a:fillRect l="0" t="0" r="0" b="0"/>
            </a:stretch>
          </a:blipFill>
        </p:spPr>
      </p:sp>
      <p:sp>
        <p:nvSpPr>
          <p:cNvPr name="Freeform 5" id="5"/>
          <p:cNvSpPr/>
          <p:nvPr/>
        </p:nvSpPr>
        <p:spPr>
          <a:xfrm flipH="false" flipV="false" rot="0">
            <a:off x="8561987" y="5713097"/>
            <a:ext cx="6449252" cy="3545203"/>
          </a:xfrm>
          <a:custGeom>
            <a:avLst/>
            <a:gdLst/>
            <a:ahLst/>
            <a:cxnLst/>
            <a:rect r="r" b="b" t="t" l="l"/>
            <a:pathLst>
              <a:path h="3545203" w="6449252">
                <a:moveTo>
                  <a:pt x="0" y="0"/>
                </a:moveTo>
                <a:lnTo>
                  <a:pt x="6449252" y="0"/>
                </a:lnTo>
                <a:lnTo>
                  <a:pt x="6449252" y="3545203"/>
                </a:lnTo>
                <a:lnTo>
                  <a:pt x="0" y="3545203"/>
                </a:lnTo>
                <a:lnTo>
                  <a:pt x="0" y="0"/>
                </a:lnTo>
                <a:close/>
              </a:path>
            </a:pathLst>
          </a:custGeom>
          <a:blipFill>
            <a:blip r:embed="rId5"/>
            <a:stretch>
              <a:fillRect l="0" t="0" r="0" b="0"/>
            </a:stretch>
          </a:blipFill>
        </p:spPr>
      </p:sp>
      <p:sp>
        <p:nvSpPr>
          <p:cNvPr name="TextBox 6" id="6"/>
          <p:cNvSpPr txBox="true"/>
          <p:nvPr/>
        </p:nvSpPr>
        <p:spPr>
          <a:xfrm rot="0">
            <a:off x="378352" y="160153"/>
            <a:ext cx="4269105" cy="657225"/>
          </a:xfrm>
          <a:prstGeom prst="rect">
            <a:avLst/>
          </a:prstGeom>
        </p:spPr>
        <p:txBody>
          <a:bodyPr anchor="t" rtlCol="false" tIns="0" lIns="0" bIns="0" rIns="0">
            <a:spAutoFit/>
          </a:bodyPr>
          <a:lstStyle/>
          <a:p>
            <a:pPr algn="l">
              <a:lnSpc>
                <a:spcPts val="5040"/>
              </a:lnSpc>
            </a:pPr>
            <a:r>
              <a:rPr lang="en-US" sz="4200" b="true">
                <a:solidFill>
                  <a:srgbClr val="FFFFFF"/>
                </a:solidFill>
                <a:latin typeface="Arial Bold"/>
                <a:ea typeface="Arial Bold"/>
                <a:cs typeface="Arial Bold"/>
                <a:sym typeface="Arial Bold"/>
              </a:rPr>
              <a:t>Feature Analysis</a:t>
            </a:r>
          </a:p>
        </p:txBody>
      </p:sp>
      <p:sp>
        <p:nvSpPr>
          <p:cNvPr name="TextBox 7" id="7"/>
          <p:cNvSpPr txBox="true"/>
          <p:nvPr/>
        </p:nvSpPr>
        <p:spPr>
          <a:xfrm rot="0">
            <a:off x="17010145" y="9760639"/>
            <a:ext cx="452123" cy="4816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2</a:t>
            </a:r>
          </a:p>
        </p:txBody>
      </p:sp>
      <p:sp>
        <p:nvSpPr>
          <p:cNvPr name="TextBox 8" id="8"/>
          <p:cNvSpPr txBox="true"/>
          <p:nvPr/>
        </p:nvSpPr>
        <p:spPr>
          <a:xfrm rot="0">
            <a:off x="378352" y="1343034"/>
            <a:ext cx="6045398" cy="7086600"/>
          </a:xfrm>
          <a:prstGeom prst="rect">
            <a:avLst/>
          </a:prstGeom>
        </p:spPr>
        <p:txBody>
          <a:bodyPr anchor="t" rtlCol="false" tIns="0" lIns="0" bIns="0" rIns="0">
            <a:spAutoFit/>
          </a:bodyPr>
          <a:lstStyle/>
          <a:p>
            <a:pPr algn="l">
              <a:lnSpc>
                <a:spcPts val="4005"/>
              </a:lnSpc>
            </a:pPr>
            <a:r>
              <a:rPr lang="en-US" sz="3338" b="true">
                <a:solidFill>
                  <a:srgbClr val="000000"/>
                </a:solidFill>
                <a:latin typeface="Arial Bold"/>
                <a:ea typeface="Arial Bold"/>
                <a:cs typeface="Arial Bold"/>
                <a:sym typeface="Arial Bold"/>
              </a:rPr>
              <a:t>Sp</a:t>
            </a:r>
            <a:r>
              <a:rPr lang="en-US" b="true" sz="3338">
                <a:solidFill>
                  <a:srgbClr val="000000"/>
                </a:solidFill>
                <a:latin typeface="Arial Bold"/>
                <a:ea typeface="Arial Bold"/>
                <a:cs typeface="Arial Bold"/>
                <a:sym typeface="Arial Bold"/>
              </a:rPr>
              <a:t>atial Feature</a:t>
            </a:r>
            <a:r>
              <a:rPr lang="en-US" b="true" sz="3338">
                <a:solidFill>
                  <a:srgbClr val="000000"/>
                </a:solidFill>
                <a:latin typeface="Arial Bold"/>
                <a:ea typeface="Arial Bold"/>
                <a:cs typeface="Arial Bold"/>
                <a:sym typeface="Arial Bold"/>
              </a:rPr>
              <a:t>s</a:t>
            </a:r>
          </a:p>
          <a:p>
            <a:pPr algn="l" marL="720730" indent="-360365" lvl="1">
              <a:lnSpc>
                <a:spcPts val="4005"/>
              </a:lnSpc>
              <a:buFont typeface="Arial"/>
              <a:buChar char="•"/>
            </a:pPr>
            <a:r>
              <a:rPr lang="en-US" sz="3338">
                <a:solidFill>
                  <a:srgbClr val="000000"/>
                </a:solidFill>
                <a:latin typeface="Arial"/>
                <a:ea typeface="Arial"/>
                <a:cs typeface="Arial"/>
                <a:sym typeface="Arial"/>
              </a:rPr>
              <a:t>Ske</a:t>
            </a:r>
            <a:r>
              <a:rPr lang="en-US" sz="3338">
                <a:solidFill>
                  <a:srgbClr val="000000"/>
                </a:solidFill>
                <a:latin typeface="Arial"/>
                <a:ea typeface="Arial"/>
                <a:cs typeface="Arial"/>
                <a:sym typeface="Arial"/>
              </a:rPr>
              <a:t>leton Structure</a:t>
            </a:r>
          </a:p>
          <a:p>
            <a:pPr algn="l" marL="720730" indent="-360365" lvl="1">
              <a:lnSpc>
                <a:spcPts val="4005"/>
              </a:lnSpc>
              <a:buFont typeface="Arial"/>
              <a:buChar char="•"/>
            </a:pPr>
            <a:r>
              <a:rPr lang="en-US" sz="3338">
                <a:solidFill>
                  <a:srgbClr val="000000"/>
                </a:solidFill>
                <a:latin typeface="Arial"/>
                <a:ea typeface="Arial"/>
                <a:cs typeface="Arial"/>
                <a:sym typeface="Arial"/>
              </a:rPr>
              <a:t>Joint Relationships</a:t>
            </a:r>
          </a:p>
          <a:p>
            <a:pPr algn="l">
              <a:lnSpc>
                <a:spcPts val="4005"/>
              </a:lnSpc>
            </a:pPr>
            <a:r>
              <a:rPr lang="en-US" b="true" sz="3338">
                <a:solidFill>
                  <a:srgbClr val="000000"/>
                </a:solidFill>
                <a:latin typeface="Arial Bold"/>
                <a:ea typeface="Arial Bold"/>
                <a:cs typeface="Arial Bold"/>
                <a:sym typeface="Arial Bold"/>
              </a:rPr>
              <a:t>Temporal Features</a:t>
            </a:r>
          </a:p>
          <a:p>
            <a:pPr algn="l" marL="720730" indent="-360365" lvl="1">
              <a:lnSpc>
                <a:spcPts val="4005"/>
              </a:lnSpc>
              <a:buFont typeface="Arial"/>
              <a:buChar char="•"/>
            </a:pPr>
            <a:r>
              <a:rPr lang="en-US" sz="3338">
                <a:solidFill>
                  <a:srgbClr val="000000"/>
                </a:solidFill>
                <a:latin typeface="Arial"/>
                <a:ea typeface="Arial"/>
                <a:cs typeface="Arial"/>
                <a:sym typeface="Arial"/>
              </a:rPr>
              <a:t>Velocity Analysis</a:t>
            </a:r>
          </a:p>
          <a:p>
            <a:pPr algn="l" marL="720730" indent="-360365" lvl="1">
              <a:lnSpc>
                <a:spcPts val="4005"/>
              </a:lnSpc>
              <a:buFont typeface="Arial"/>
              <a:buChar char="•"/>
            </a:pPr>
            <a:r>
              <a:rPr lang="en-US" sz="3338">
                <a:solidFill>
                  <a:srgbClr val="000000"/>
                </a:solidFill>
                <a:latin typeface="Arial"/>
                <a:ea typeface="Arial"/>
                <a:cs typeface="Arial"/>
                <a:sym typeface="Arial"/>
              </a:rPr>
              <a:t>Ac</a:t>
            </a:r>
            <a:r>
              <a:rPr lang="en-US" sz="3338">
                <a:solidFill>
                  <a:srgbClr val="000000"/>
                </a:solidFill>
                <a:latin typeface="Arial"/>
                <a:ea typeface="Arial"/>
                <a:cs typeface="Arial"/>
                <a:sym typeface="Arial"/>
              </a:rPr>
              <a:t>celeration Analysis</a:t>
            </a:r>
          </a:p>
          <a:p>
            <a:pPr algn="l">
              <a:lnSpc>
                <a:spcPts val="4005"/>
              </a:lnSpc>
            </a:pPr>
            <a:r>
              <a:rPr lang="en-US" b="true" sz="3338">
                <a:solidFill>
                  <a:srgbClr val="000000"/>
                </a:solidFill>
                <a:latin typeface="Arial Bold"/>
                <a:ea typeface="Arial Bold"/>
                <a:cs typeface="Arial Bold"/>
                <a:sym typeface="Arial Bold"/>
              </a:rPr>
              <a:t>Explainability</a:t>
            </a:r>
          </a:p>
          <a:p>
            <a:pPr algn="l" marL="720730" indent="-360365" lvl="1">
              <a:lnSpc>
                <a:spcPts val="4005"/>
              </a:lnSpc>
              <a:buFont typeface="Arial"/>
              <a:buChar char="•"/>
            </a:pPr>
            <a:r>
              <a:rPr lang="en-US" sz="3338">
                <a:solidFill>
                  <a:srgbClr val="000000"/>
                </a:solidFill>
                <a:latin typeface="Arial"/>
                <a:ea typeface="Arial"/>
                <a:cs typeface="Arial"/>
                <a:sym typeface="Arial"/>
              </a:rPr>
              <a:t>PCA</a:t>
            </a:r>
            <a:r>
              <a:rPr lang="en-US" sz="3338">
                <a:solidFill>
                  <a:srgbClr val="000000"/>
                </a:solidFill>
                <a:latin typeface="Arial"/>
                <a:ea typeface="Arial"/>
                <a:cs typeface="Arial"/>
                <a:sym typeface="Arial"/>
              </a:rPr>
              <a:t> Visualization</a:t>
            </a:r>
          </a:p>
          <a:p>
            <a:pPr algn="l" marL="720730" indent="-360365" lvl="1">
              <a:lnSpc>
                <a:spcPts val="4005"/>
              </a:lnSpc>
              <a:buFont typeface="Arial"/>
              <a:buChar char="•"/>
            </a:pPr>
            <a:r>
              <a:rPr lang="en-US" sz="3338">
                <a:solidFill>
                  <a:srgbClr val="000000"/>
                </a:solidFill>
                <a:latin typeface="Arial"/>
                <a:ea typeface="Arial"/>
                <a:cs typeface="Arial"/>
                <a:sym typeface="Arial"/>
              </a:rPr>
              <a:t>Top-5 Important Joints</a:t>
            </a:r>
          </a:p>
          <a:p>
            <a:pPr algn="l">
              <a:lnSpc>
                <a:spcPts val="4005"/>
              </a:lnSpc>
            </a:pPr>
            <a:r>
              <a:rPr lang="en-US" b="true" sz="3338">
                <a:solidFill>
                  <a:srgbClr val="000000"/>
                </a:solidFill>
                <a:latin typeface="Arial Bold"/>
                <a:ea typeface="Arial Bold"/>
                <a:cs typeface="Arial Bold"/>
                <a:sym typeface="Arial Bold"/>
              </a:rPr>
              <a:t>Applied Techniques</a:t>
            </a:r>
          </a:p>
          <a:p>
            <a:pPr algn="l" marL="720730" indent="-360365" lvl="1">
              <a:lnSpc>
                <a:spcPts val="4005"/>
              </a:lnSpc>
              <a:buFont typeface="Arial"/>
              <a:buChar char="•"/>
            </a:pPr>
            <a:r>
              <a:rPr lang="en-US" sz="3338">
                <a:solidFill>
                  <a:srgbClr val="000000"/>
                </a:solidFill>
                <a:latin typeface="Arial"/>
                <a:ea typeface="Arial"/>
                <a:cs typeface="Arial"/>
                <a:sym typeface="Arial"/>
              </a:rPr>
              <a:t>Spatial Feature Analysis</a:t>
            </a:r>
          </a:p>
          <a:p>
            <a:pPr algn="l" marL="720730" indent="-360365" lvl="1">
              <a:lnSpc>
                <a:spcPts val="4005"/>
              </a:lnSpc>
              <a:buFont typeface="Arial"/>
              <a:buChar char="•"/>
            </a:pPr>
            <a:r>
              <a:rPr lang="en-US" sz="3338">
                <a:solidFill>
                  <a:srgbClr val="000000"/>
                </a:solidFill>
                <a:latin typeface="Arial"/>
                <a:ea typeface="Arial"/>
                <a:cs typeface="Arial"/>
                <a:sym typeface="Arial"/>
              </a:rPr>
              <a:t>Temporal Featur</a:t>
            </a:r>
            <a:r>
              <a:rPr lang="en-US" sz="3338">
                <a:solidFill>
                  <a:srgbClr val="000000"/>
                </a:solidFill>
                <a:latin typeface="Arial"/>
                <a:ea typeface="Arial"/>
                <a:cs typeface="Arial"/>
                <a:sym typeface="Arial"/>
              </a:rPr>
              <a:t>e Extra</a:t>
            </a:r>
            <a:r>
              <a:rPr lang="en-US" sz="3338">
                <a:solidFill>
                  <a:srgbClr val="000000"/>
                </a:solidFill>
                <a:latin typeface="Arial"/>
                <a:ea typeface="Arial"/>
                <a:cs typeface="Arial"/>
                <a:sym typeface="Arial"/>
              </a:rPr>
              <a:t>ction</a:t>
            </a:r>
          </a:p>
          <a:p>
            <a:pPr algn="l" marL="720730" indent="-360365" lvl="1">
              <a:lnSpc>
                <a:spcPts val="4005"/>
              </a:lnSpc>
              <a:buFont typeface="Arial"/>
              <a:buChar char="•"/>
            </a:pPr>
            <a:r>
              <a:rPr lang="en-US" sz="3338">
                <a:solidFill>
                  <a:srgbClr val="000000"/>
                </a:solidFill>
                <a:latin typeface="Arial"/>
                <a:ea typeface="Arial"/>
                <a:cs typeface="Arial"/>
                <a:sym typeface="Arial"/>
              </a:rPr>
              <a:t>PCA</a:t>
            </a:r>
          </a:p>
          <a:p>
            <a:pPr algn="l" marL="720730" indent="-360365" lvl="1">
              <a:lnSpc>
                <a:spcPts val="4005"/>
              </a:lnSpc>
              <a:buFont typeface="Arial"/>
              <a:buChar char="•"/>
            </a:pPr>
            <a:r>
              <a:rPr lang="en-US" sz="3338">
                <a:solidFill>
                  <a:srgbClr val="000000"/>
                </a:solidFill>
                <a:latin typeface="Arial"/>
                <a:ea typeface="Arial"/>
                <a:cs typeface="Arial"/>
                <a:sym typeface="Arial"/>
              </a:rPr>
              <a:t>Explainabi</a:t>
            </a:r>
            <a:r>
              <a:rPr lang="en-US" sz="3338">
                <a:solidFill>
                  <a:srgbClr val="000000"/>
                </a:solidFill>
                <a:latin typeface="Arial"/>
                <a:ea typeface="Arial"/>
                <a:cs typeface="Arial"/>
                <a:sym typeface="Arial"/>
              </a:rPr>
              <a:t>lity Analysi</a:t>
            </a:r>
            <a:r>
              <a:rPr lang="en-US" sz="3338">
                <a:solidFill>
                  <a:srgbClr val="000000"/>
                </a:solidFill>
                <a:latin typeface="Arial"/>
                <a:ea typeface="Arial"/>
                <a:cs typeface="Arial"/>
                <a:sym typeface="Arial"/>
              </a:rPr>
              <a:t>s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44000" y="2074251"/>
            <a:ext cx="9087437" cy="6714959"/>
          </a:xfrm>
          <a:custGeom>
            <a:avLst/>
            <a:gdLst/>
            <a:ahLst/>
            <a:cxnLst/>
            <a:rect r="r" b="b" t="t" l="l"/>
            <a:pathLst>
              <a:path h="6714959" w="9087437">
                <a:moveTo>
                  <a:pt x="0" y="0"/>
                </a:moveTo>
                <a:lnTo>
                  <a:pt x="9087437" y="0"/>
                </a:lnTo>
                <a:lnTo>
                  <a:pt x="9087437" y="6714958"/>
                </a:lnTo>
                <a:lnTo>
                  <a:pt x="0" y="6714958"/>
                </a:lnTo>
                <a:lnTo>
                  <a:pt x="0" y="0"/>
                </a:lnTo>
                <a:close/>
              </a:path>
            </a:pathLst>
          </a:custGeom>
          <a:blipFill>
            <a:blip r:embed="rId3"/>
            <a:stretch>
              <a:fillRect l="0" t="0" r="0" b="0"/>
            </a:stretch>
          </a:blipFill>
        </p:spPr>
      </p:sp>
      <p:sp>
        <p:nvSpPr>
          <p:cNvPr name="TextBox 4" id="4"/>
          <p:cNvSpPr txBox="true"/>
          <p:nvPr/>
        </p:nvSpPr>
        <p:spPr>
          <a:xfrm rot="0">
            <a:off x="378352" y="160153"/>
            <a:ext cx="7944326" cy="657225"/>
          </a:xfrm>
          <a:prstGeom prst="rect">
            <a:avLst/>
          </a:prstGeom>
        </p:spPr>
        <p:txBody>
          <a:bodyPr anchor="t" rtlCol="false" tIns="0" lIns="0" bIns="0" rIns="0">
            <a:spAutoFit/>
          </a:bodyPr>
          <a:lstStyle/>
          <a:p>
            <a:pPr algn="l">
              <a:lnSpc>
                <a:spcPts val="5040"/>
              </a:lnSpc>
            </a:pPr>
            <a:r>
              <a:rPr lang="en-US" sz="4200" b="true">
                <a:solidFill>
                  <a:srgbClr val="FFFFFF"/>
                </a:solidFill>
                <a:latin typeface="Arial Bold"/>
                <a:ea typeface="Arial Bold"/>
                <a:cs typeface="Arial Bold"/>
                <a:sym typeface="Arial Bold"/>
              </a:rPr>
              <a:t>Data Preprocessing for S-JEPA</a:t>
            </a:r>
          </a:p>
        </p:txBody>
      </p:sp>
      <p:sp>
        <p:nvSpPr>
          <p:cNvPr name="TextBox 5" id="5"/>
          <p:cNvSpPr txBox="true"/>
          <p:nvPr/>
        </p:nvSpPr>
        <p:spPr>
          <a:xfrm rot="0">
            <a:off x="17010145" y="9760639"/>
            <a:ext cx="452123" cy="4816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2</a:t>
            </a:r>
          </a:p>
        </p:txBody>
      </p:sp>
      <p:sp>
        <p:nvSpPr>
          <p:cNvPr name="TextBox 6" id="6"/>
          <p:cNvSpPr txBox="true"/>
          <p:nvPr/>
        </p:nvSpPr>
        <p:spPr>
          <a:xfrm rot="0">
            <a:off x="130588" y="1464827"/>
            <a:ext cx="9120830" cy="600075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Fr</a:t>
            </a:r>
            <a:r>
              <a:rPr lang="en-US" b="true" sz="3600">
                <a:solidFill>
                  <a:srgbClr val="000000"/>
                </a:solidFill>
                <a:latin typeface="Arial Bold"/>
                <a:ea typeface="Arial Bold"/>
                <a:cs typeface="Arial Bold"/>
                <a:sym typeface="Arial Bold"/>
              </a:rPr>
              <a:t>ame Standardiz</a:t>
            </a:r>
            <a:r>
              <a:rPr lang="en-US" b="true" sz="3600">
                <a:solidFill>
                  <a:srgbClr val="000000"/>
                </a:solidFill>
                <a:latin typeface="Arial Bold"/>
                <a:ea typeface="Arial Bold"/>
                <a:cs typeface="Arial Bold"/>
                <a:sym typeface="Arial Bold"/>
              </a:rPr>
              <a:t>ation</a:t>
            </a:r>
            <a:r>
              <a:rPr lang="en-US" sz="3600">
                <a:solidFill>
                  <a:srgbClr val="000000"/>
                </a:solidFill>
                <a:latin typeface="Arial"/>
                <a:ea typeface="Arial"/>
                <a:cs typeface="Arial"/>
                <a:sym typeface="Arial"/>
              </a:rPr>
              <a:t>: truncation or zero-padding to 40 frame-sequences</a:t>
            </a:r>
          </a:p>
          <a:p>
            <a:pPr algn="l">
              <a:lnSpc>
                <a:spcPts val="4320"/>
              </a:lnSpc>
            </a:pPr>
            <a:r>
              <a:rPr lang="en-US" b="true" sz="3600">
                <a:solidFill>
                  <a:srgbClr val="000000"/>
                </a:solidFill>
                <a:latin typeface="Arial Bold"/>
                <a:ea typeface="Arial Bold"/>
                <a:cs typeface="Arial Bold"/>
                <a:sym typeface="Arial Bold"/>
              </a:rPr>
              <a:t>Outli</a:t>
            </a:r>
            <a:r>
              <a:rPr lang="en-US" b="true" sz="3600">
                <a:solidFill>
                  <a:srgbClr val="000000"/>
                </a:solidFill>
                <a:latin typeface="Arial Bold"/>
                <a:ea typeface="Arial Bold"/>
                <a:cs typeface="Arial Bold"/>
                <a:sym typeface="Arial Bold"/>
              </a:rPr>
              <a:t>er Removal</a:t>
            </a:r>
          </a:p>
          <a:p>
            <a:pPr algn="l" marL="777243" indent="-388622" lvl="1">
              <a:lnSpc>
                <a:spcPts val="4320"/>
              </a:lnSpc>
              <a:buFont typeface="Arial"/>
              <a:buChar char="•"/>
            </a:pPr>
            <a:r>
              <a:rPr lang="en-US" sz="3600">
                <a:solidFill>
                  <a:srgbClr val="000000"/>
                </a:solidFill>
                <a:latin typeface="Arial"/>
                <a:ea typeface="Arial"/>
                <a:cs typeface="Arial"/>
                <a:sym typeface="Arial"/>
              </a:rPr>
              <a:t>Statisti</a:t>
            </a:r>
            <a:r>
              <a:rPr lang="en-US" sz="3600">
                <a:solidFill>
                  <a:srgbClr val="000000"/>
                </a:solidFill>
                <a:latin typeface="Arial"/>
                <a:ea typeface="Arial"/>
                <a:cs typeface="Arial"/>
                <a:sym typeface="Arial"/>
              </a:rPr>
              <a:t>cal Outliers: Tukey’s method </a:t>
            </a:r>
          </a:p>
          <a:p>
            <a:pPr algn="l" marL="777243" indent="-388622" lvl="1">
              <a:lnSpc>
                <a:spcPts val="4320"/>
              </a:lnSpc>
              <a:buFont typeface="Arial"/>
              <a:buChar char="•"/>
            </a:pPr>
            <a:r>
              <a:rPr lang="en-US" sz="3600">
                <a:solidFill>
                  <a:srgbClr val="000000"/>
                </a:solidFill>
                <a:latin typeface="Arial"/>
                <a:ea typeface="Arial"/>
                <a:cs typeface="Arial"/>
                <a:sym typeface="Arial"/>
              </a:rPr>
              <a:t>Density Outliers: DBSCAN</a:t>
            </a:r>
          </a:p>
          <a:p>
            <a:pPr algn="l">
              <a:lnSpc>
                <a:spcPts val="4320"/>
              </a:lnSpc>
            </a:pPr>
            <a:r>
              <a:rPr lang="en-US" b="true" sz="3600">
                <a:solidFill>
                  <a:srgbClr val="000000"/>
                </a:solidFill>
                <a:latin typeface="Arial Bold"/>
                <a:ea typeface="Arial Bold"/>
                <a:cs typeface="Arial Bold"/>
                <a:sym typeface="Arial Bold"/>
              </a:rPr>
              <a:t>Data Normalization</a:t>
            </a:r>
          </a:p>
          <a:p>
            <a:pPr algn="l" marL="777243" indent="-388622" lvl="1">
              <a:lnSpc>
                <a:spcPts val="4320"/>
              </a:lnSpc>
              <a:buFont typeface="Arial"/>
              <a:buChar char="•"/>
            </a:pPr>
            <a:r>
              <a:rPr lang="en-US" sz="3600">
                <a:solidFill>
                  <a:srgbClr val="000000"/>
                </a:solidFill>
                <a:latin typeface="Arial"/>
                <a:ea typeface="Arial"/>
                <a:cs typeface="Arial"/>
                <a:sym typeface="Arial"/>
              </a:rPr>
              <a:t>Orig</a:t>
            </a:r>
            <a:r>
              <a:rPr lang="en-US" sz="3600">
                <a:solidFill>
                  <a:srgbClr val="000000"/>
                </a:solidFill>
                <a:latin typeface="Arial"/>
                <a:ea typeface="Arial"/>
                <a:cs typeface="Arial"/>
                <a:sym typeface="Arial"/>
              </a:rPr>
              <a:t>in Translation: Skeleton is centered at origin</a:t>
            </a:r>
          </a:p>
          <a:p>
            <a:pPr algn="l" marL="777243" indent="-388622" lvl="1">
              <a:lnSpc>
                <a:spcPts val="4320"/>
              </a:lnSpc>
              <a:buFont typeface="Arial"/>
              <a:buChar char="•"/>
            </a:pPr>
            <a:r>
              <a:rPr lang="en-US" sz="3600">
                <a:solidFill>
                  <a:srgbClr val="000000"/>
                </a:solidFill>
                <a:latin typeface="Arial"/>
                <a:ea typeface="Arial"/>
                <a:cs typeface="Arial"/>
                <a:sym typeface="Arial"/>
              </a:rPr>
              <a:t>R</a:t>
            </a:r>
            <a:r>
              <a:rPr lang="en-US" sz="3600">
                <a:solidFill>
                  <a:srgbClr val="000000"/>
                </a:solidFill>
                <a:latin typeface="Arial"/>
                <a:ea typeface="Arial"/>
                <a:cs typeface="Arial"/>
                <a:sym typeface="Arial"/>
              </a:rPr>
              <a:t>otati</a:t>
            </a:r>
            <a:r>
              <a:rPr lang="en-US" sz="3600">
                <a:solidFill>
                  <a:srgbClr val="000000"/>
                </a:solidFill>
                <a:latin typeface="Arial"/>
                <a:ea typeface="Arial"/>
                <a:cs typeface="Arial"/>
                <a:sym typeface="Arial"/>
              </a:rPr>
              <a:t>on Alignment: create view-invariant representation</a:t>
            </a:r>
          </a:p>
          <a:p>
            <a:pPr algn="l">
              <a:lnSpc>
                <a:spcPts val="432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598545" y="6607340"/>
            <a:ext cx="17421141" cy="2357451"/>
          </a:xfrm>
          <a:custGeom>
            <a:avLst/>
            <a:gdLst/>
            <a:ahLst/>
            <a:cxnLst/>
            <a:rect r="r" b="b" t="t" l="l"/>
            <a:pathLst>
              <a:path h="2357451" w="17421141">
                <a:moveTo>
                  <a:pt x="0" y="0"/>
                </a:moveTo>
                <a:lnTo>
                  <a:pt x="17421141" y="0"/>
                </a:lnTo>
                <a:lnTo>
                  <a:pt x="17421141" y="2357452"/>
                </a:lnTo>
                <a:lnTo>
                  <a:pt x="0" y="2357452"/>
                </a:lnTo>
                <a:lnTo>
                  <a:pt x="0" y="0"/>
                </a:lnTo>
                <a:close/>
              </a:path>
            </a:pathLst>
          </a:custGeom>
          <a:blipFill>
            <a:blip r:embed="rId4"/>
            <a:stretch>
              <a:fillRect l="-745" t="0" r="-745" b="0"/>
            </a:stretch>
          </a:blipFill>
        </p:spPr>
      </p:sp>
      <p:sp>
        <p:nvSpPr>
          <p:cNvPr name="TextBox 4" id="4"/>
          <p:cNvSpPr txBox="true"/>
          <p:nvPr/>
        </p:nvSpPr>
        <p:spPr>
          <a:xfrm rot="0">
            <a:off x="303846" y="184790"/>
            <a:ext cx="17130812" cy="657225"/>
          </a:xfrm>
          <a:prstGeom prst="rect">
            <a:avLst/>
          </a:prstGeom>
        </p:spPr>
        <p:txBody>
          <a:bodyPr anchor="t" rtlCol="false" tIns="0" lIns="0" bIns="0" rIns="0">
            <a:spAutoFit/>
          </a:bodyPr>
          <a:lstStyle/>
          <a:p>
            <a:pPr algn="l">
              <a:lnSpc>
                <a:spcPts val="5040"/>
              </a:lnSpc>
            </a:pPr>
            <a:r>
              <a:rPr lang="en-US" sz="4200" b="true">
                <a:solidFill>
                  <a:srgbClr val="FFFFFF"/>
                </a:solidFill>
                <a:latin typeface="Arial Bold"/>
                <a:ea typeface="Arial Bold"/>
                <a:cs typeface="Arial Bold"/>
                <a:sym typeface="Arial Bold"/>
              </a:rPr>
              <a:t>Spatio-Temporal Joint-Embedding Predictive Architecture (S-JEPA)</a:t>
            </a:r>
          </a:p>
        </p:txBody>
      </p:sp>
      <p:sp>
        <p:nvSpPr>
          <p:cNvPr name="TextBox 5" id="5"/>
          <p:cNvSpPr txBox="true"/>
          <p:nvPr/>
        </p:nvSpPr>
        <p:spPr>
          <a:xfrm rot="0">
            <a:off x="741178" y="1440285"/>
            <a:ext cx="17135875" cy="4933950"/>
          </a:xfrm>
          <a:prstGeom prst="rect">
            <a:avLst/>
          </a:prstGeom>
        </p:spPr>
        <p:txBody>
          <a:bodyPr anchor="t" rtlCol="false" tIns="0" lIns="0" bIns="0" rIns="0">
            <a:spAutoFit/>
          </a:bodyPr>
          <a:lstStyle/>
          <a:p>
            <a:pPr algn="l" marL="542924" indent="-271462" lvl="1">
              <a:lnSpc>
                <a:spcPts val="3599"/>
              </a:lnSpc>
              <a:buFont typeface="Arial"/>
              <a:buChar char="•"/>
            </a:pPr>
            <a:r>
              <a:rPr lang="en-US" b="true" sz="2999">
                <a:solidFill>
                  <a:srgbClr val="000000"/>
                </a:solidFill>
                <a:latin typeface="Arial Bold"/>
                <a:ea typeface="Arial Bold"/>
                <a:cs typeface="Arial Bold"/>
                <a:sym typeface="Arial Bold"/>
              </a:rPr>
              <a:t>Input</a:t>
            </a:r>
            <a:r>
              <a:rPr lang="en-US" sz="2999">
                <a:solidFill>
                  <a:srgbClr val="000000"/>
                </a:solidFill>
                <a:latin typeface="Arial"/>
                <a:ea typeface="Arial"/>
                <a:cs typeface="Arial"/>
                <a:sym typeface="Arial"/>
              </a:rPr>
              <a:t>: X in R (TxJx3)</a:t>
            </a:r>
          </a:p>
          <a:p>
            <a:pPr algn="l" marL="542924" indent="-271462" lvl="1">
              <a:lnSpc>
                <a:spcPts val="3599"/>
              </a:lnSpc>
              <a:buFont typeface="Arial"/>
              <a:buChar char="•"/>
            </a:pPr>
            <a:r>
              <a:rPr lang="en-US" b="true" sz="2999">
                <a:solidFill>
                  <a:srgbClr val="000000"/>
                </a:solidFill>
                <a:latin typeface="Arial Bold"/>
                <a:ea typeface="Arial Bold"/>
                <a:cs typeface="Arial Bold"/>
                <a:sym typeface="Arial Bold"/>
              </a:rPr>
              <a:t>Spatio-Temporal Tokenization</a:t>
            </a:r>
            <a:r>
              <a:rPr lang="en-US" sz="2999">
                <a:solidFill>
                  <a:srgbClr val="000000"/>
                </a:solidFill>
                <a:latin typeface="Arial"/>
                <a:ea typeface="Arial"/>
                <a:cs typeface="Arial"/>
                <a:sym typeface="Arial"/>
              </a:rPr>
              <a:t>: Transforms skeleton sequences into temporal patches and joint spatial embeddings</a:t>
            </a:r>
          </a:p>
          <a:p>
            <a:pPr algn="l" marL="542924" indent="-271462" lvl="1">
              <a:lnSpc>
                <a:spcPts val="3599"/>
              </a:lnSpc>
              <a:buFont typeface="Arial"/>
              <a:buChar char="•"/>
            </a:pPr>
            <a:r>
              <a:rPr lang="en-US" b="true" sz="2999">
                <a:solidFill>
                  <a:srgbClr val="000000"/>
                </a:solidFill>
                <a:latin typeface="Arial Bold"/>
                <a:ea typeface="Arial Bold"/>
                <a:cs typeface="Arial Bold"/>
                <a:sym typeface="Arial Bold"/>
              </a:rPr>
              <a:t>Context Encoder</a:t>
            </a:r>
            <a:r>
              <a:rPr lang="en-US" sz="2999">
                <a:solidFill>
                  <a:srgbClr val="000000"/>
                </a:solidFill>
                <a:latin typeface="Arial"/>
                <a:ea typeface="Arial"/>
                <a:cs typeface="Arial"/>
                <a:sym typeface="Arial"/>
              </a:rPr>
              <a:t>: Processes the masked input sequence to learn contextual motion representations from visible tokens</a:t>
            </a:r>
          </a:p>
          <a:p>
            <a:pPr algn="l" marL="542924" indent="-271462" lvl="1">
              <a:lnSpc>
                <a:spcPts val="3599"/>
              </a:lnSpc>
              <a:buFont typeface="Arial"/>
              <a:buChar char="•"/>
            </a:pPr>
            <a:r>
              <a:rPr lang="en-US" b="true" sz="2999">
                <a:solidFill>
                  <a:srgbClr val="000000"/>
                </a:solidFill>
                <a:latin typeface="Arial Bold"/>
                <a:ea typeface="Arial Bold"/>
                <a:cs typeface="Arial Bold"/>
                <a:sym typeface="Arial Bold"/>
              </a:rPr>
              <a:t>Target Encoder</a:t>
            </a:r>
            <a:r>
              <a:rPr lang="en-US" sz="2999">
                <a:solidFill>
                  <a:srgbClr val="000000"/>
                </a:solidFill>
                <a:latin typeface="Arial"/>
                <a:ea typeface="Arial"/>
                <a:cs typeface="Arial"/>
                <a:sym typeface="Arial"/>
              </a:rPr>
              <a:t>: Encodes the full sequence to generate stable target representations for self-supervised learning</a:t>
            </a:r>
          </a:p>
          <a:p>
            <a:pPr algn="l" marL="542924" indent="-271462" lvl="1">
              <a:lnSpc>
                <a:spcPts val="3599"/>
              </a:lnSpc>
              <a:buFont typeface="Arial"/>
              <a:buChar char="•"/>
            </a:pPr>
            <a:r>
              <a:rPr lang="en-US" b="true" sz="2999">
                <a:solidFill>
                  <a:srgbClr val="000000"/>
                </a:solidFill>
                <a:latin typeface="Arial Bold"/>
                <a:ea typeface="Arial Bold"/>
                <a:cs typeface="Arial Bold"/>
                <a:sym typeface="Arial Bold"/>
              </a:rPr>
              <a:t>Predictor and Loss Function</a:t>
            </a:r>
            <a:r>
              <a:rPr lang="en-US" sz="2999">
                <a:solidFill>
                  <a:srgbClr val="000000"/>
                </a:solidFill>
                <a:latin typeface="Arial"/>
                <a:ea typeface="Arial"/>
                <a:cs typeface="Arial"/>
                <a:sym typeface="Arial"/>
              </a:rPr>
              <a:t>: Predicts the latent representations of masked tokens and minimizes the L2 distance to target latents</a:t>
            </a:r>
          </a:p>
          <a:p>
            <a:pPr algn="l">
              <a:lnSpc>
                <a:spcPts val="3599"/>
              </a:lnSpc>
            </a:pPr>
          </a:p>
          <a:p>
            <a:pPr algn="l">
              <a:lnSpc>
                <a:spcPts val="3599"/>
              </a:lnSpc>
            </a:pPr>
            <a:r>
              <a:rPr lang="en-US" sz="2999">
                <a:solidFill>
                  <a:srgbClr val="000000"/>
                </a:solidFill>
                <a:latin typeface="Arial"/>
                <a:ea typeface="Arial"/>
                <a:cs typeface="Arial"/>
                <a:sym typeface="Arial"/>
              </a:rPr>
              <a:t>→ For evaluation, only the frozen Context Encoder is used with a Linear Classifier</a:t>
            </a:r>
          </a:p>
        </p:txBody>
      </p:sp>
      <p:sp>
        <p:nvSpPr>
          <p:cNvPr name="TextBox 6" id="6"/>
          <p:cNvSpPr txBox="true"/>
          <p:nvPr/>
        </p:nvSpPr>
        <p:spPr>
          <a:xfrm rot="0">
            <a:off x="16845363"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4" id="4"/>
          <p:cNvSpPr txBox="true"/>
          <p:nvPr/>
        </p:nvSpPr>
        <p:spPr>
          <a:xfrm rot="0">
            <a:off x="749895" y="7007408"/>
            <a:ext cx="17092984" cy="1200150"/>
          </a:xfrm>
          <a:prstGeom prst="rect">
            <a:avLst/>
          </a:prstGeom>
        </p:spPr>
        <p:txBody>
          <a:bodyPr anchor="t" rtlCol="false" tIns="0" lIns="0" bIns="0" rIns="0">
            <a:spAutoFit/>
          </a:bodyPr>
          <a:lstStyle/>
          <a:p>
            <a:pPr algn="l">
              <a:lnSpc>
                <a:spcPts val="4680"/>
              </a:lnSpc>
            </a:pPr>
            <a:r>
              <a:rPr lang="en-US" sz="3900">
                <a:solidFill>
                  <a:srgbClr val="000000"/>
                </a:solidFill>
                <a:latin typeface="Arial"/>
                <a:ea typeface="Arial"/>
                <a:cs typeface="Arial"/>
                <a:sym typeface="Arial"/>
              </a:rPr>
              <a:t>t-SNE, UMAP, and LDA all produce overlapping mixed-color visualizations</a:t>
            </a:r>
          </a:p>
          <a:p>
            <a:pPr algn="l">
              <a:lnSpc>
                <a:spcPts val="4680"/>
              </a:lnSpc>
            </a:pPr>
            <a:r>
              <a:rPr lang="en-US" sz="3900">
                <a:solidFill>
                  <a:srgbClr val="000000"/>
                </a:solidFill>
                <a:latin typeface="Arial"/>
                <a:ea typeface="Arial"/>
                <a:cs typeface="Arial"/>
                <a:sym typeface="Arial"/>
              </a:rPr>
              <a:t>→ 120 classes cannot be visualized by only 2 dimension</a:t>
            </a:r>
          </a:p>
        </p:txBody>
      </p:sp>
      <p:sp>
        <p:nvSpPr>
          <p:cNvPr name="TextBox 5" id="5"/>
          <p:cNvSpPr txBox="true"/>
          <p:nvPr/>
        </p:nvSpPr>
        <p:spPr>
          <a:xfrm rot="0">
            <a:off x="384972" y="135419"/>
            <a:ext cx="8095655" cy="742950"/>
          </a:xfrm>
          <a:prstGeom prst="rect">
            <a:avLst/>
          </a:prstGeom>
        </p:spPr>
        <p:txBody>
          <a:bodyPr anchor="t" rtlCol="false" tIns="0" lIns="0" bIns="0" rIns="0">
            <a:spAutoFit/>
          </a:bodyPr>
          <a:lstStyle/>
          <a:p>
            <a:pPr algn="l">
              <a:lnSpc>
                <a:spcPts val="5759"/>
              </a:lnSpc>
            </a:pPr>
            <a:r>
              <a:rPr lang="en-US" sz="4800" b="true">
                <a:solidFill>
                  <a:srgbClr val="FFFFFF"/>
                </a:solidFill>
                <a:latin typeface="Arial Bold"/>
                <a:ea typeface="Arial Bold"/>
                <a:cs typeface="Arial Bold"/>
                <a:sym typeface="Arial Bold"/>
              </a:rPr>
              <a:t>Latent Feature Visualization</a:t>
            </a:r>
          </a:p>
        </p:txBody>
      </p:sp>
      <p:sp>
        <p:nvSpPr>
          <p:cNvPr name="TextBox 6" id="6"/>
          <p:cNvSpPr txBox="true"/>
          <p:nvPr/>
        </p:nvSpPr>
        <p:spPr>
          <a:xfrm rot="0">
            <a:off x="17034291"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6</a:t>
            </a:r>
          </a:p>
        </p:txBody>
      </p:sp>
      <p:pic>
        <p:nvPicPr>
          <p:cNvPr id="8" name="Picture 7" descr="latent_comparison_tsne_umap_lda.png"/>
          <p:cNvPicPr>
            <a:picLocks noChangeAspect="1"/>
          </p:cNvPicPr>
          <p:nvPr/>
        </p:nvPicPr>
        <p:blipFill>
          <a:blip r:embed="rId4"/>
          <a:stretch>
            <a:fillRect/>
          </a:stretch>
        </p:blipFill>
        <p:spPr>
          <a:xfrm>
            <a:off x="841881" y="1267666"/>
            <a:ext cx="16644533" cy="5368266"/>
          </a:xfrm>
          <a:prstGeom prst="rect">
            <a:avLst/>
          </a:prstGeom>
        </p:spPr>
      </p:pic>
      <p:sp>
        <p:nvSpPr>
          <p:cNvPr id="9" name="TextBox 8"/>
          <p:cNvSpPr txBox="1"/>
          <p:nvPr/>
        </p:nvSpPr>
        <p:spPr>
          <a:xfrm>
            <a:off x="14486414" y="1467666"/>
            <a:ext cx="2800000" cy="2400000"/>
          </a:xfrm>
          <a:prstGeom prst="rect">
            <a:avLst/>
          </a:prstGeom>
          <a:solidFill>
            <a:srgbClr val="FFFFFF"/>
          </a:solidFill>
          <a:ln w="19050">
            <a:solidFill>
              <a:srgbClr val="B4B4B4"/>
            </a:solidFill>
          </a:ln>
        </p:spPr>
        <p:txBody>
          <a:bodyPr wrap="square">
            <a:spAutoFit/>
          </a:bodyPr>
          <a:lstStyle/>
          <a:p>
            <a:pPr>
              <a:spcAft>
                <a:spcPts val="600"/>
              </a:spcAft>
              <a:defRPr b="1" sz="1300">
                <a:solidFill>
                  <a:srgbClr val="000000"/>
                </a:solidFill>
                <a:latin typeface="Arial"/>
              </a:defRPr>
            </a:pPr>
            <a:r>
              <a:t>Color Legend:</a:t>
            </a:r>
          </a:p>
          <a:p>
            <a:pPr>
              <a:spcAft>
                <a:spcPts val="400"/>
              </a:spcAft>
              <a:defRPr sz="1100" b="1">
                <a:solidFill>
                  <a:srgbClr val="E41A1C"/>
                </a:solidFill>
                <a:latin typeface="Arial"/>
              </a:defRPr>
            </a:pPr>
            <a:r>
              <a:t>🔴 Drink Water (A1)</a:t>
            </a:r>
          </a:p>
          <a:p>
            <a:pPr>
              <a:spcAft>
                <a:spcPts val="400"/>
              </a:spcAft>
              <a:defRPr sz="1100" b="1">
                <a:solidFill>
                  <a:srgbClr val="377EB8"/>
                </a:solidFill>
                <a:latin typeface="Arial"/>
              </a:defRPr>
            </a:pPr>
            <a:r>
              <a:t>🔵 Waving Hand (A23)</a:t>
            </a:r>
          </a:p>
          <a:p>
            <a:pPr>
              <a:spcAft>
                <a:spcPts val="400"/>
              </a:spcAft>
              <a:defRPr sz="1100" b="1">
                <a:solidFill>
                  <a:srgbClr val="4DAF4A"/>
                </a:solidFill>
                <a:latin typeface="Arial"/>
              </a:defRPr>
            </a:pPr>
            <a:r>
              <a:t>🟢 Jumping (A27)</a:t>
            </a:r>
          </a:p>
          <a:p>
            <a:pPr>
              <a:spcAft>
                <a:spcPts val="400"/>
              </a:spcAft>
              <a:defRPr sz="1100" b="1">
                <a:solidFill>
                  <a:srgbClr val="984EA3"/>
                </a:solidFill>
                <a:latin typeface="Arial"/>
              </a:defRPr>
            </a:pPr>
            <a:r>
              <a:t>🟣 Punching (A50)</a:t>
            </a:r>
          </a:p>
          <a:p>
            <a:pPr>
              <a:spcAft>
                <a:spcPts val="400"/>
              </a:spcAft>
              <a:defRPr sz="1100" b="1">
                <a:solidFill>
                  <a:srgbClr val="FF7F00"/>
                </a:solidFill>
                <a:latin typeface="Arial"/>
              </a:defRPr>
            </a:pPr>
            <a:r>
              <a:t>🟠 Walking (A59)</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97508" y="1393522"/>
            <a:ext cx="17092984" cy="5762625"/>
          </a:xfrm>
          <a:prstGeom prst="rect">
            <a:avLst/>
          </a:prstGeom>
        </p:spPr>
        <p:txBody>
          <a:bodyPr anchor="t" rtlCol="false" tIns="0" lIns="0" bIns="0" rIns="0">
            <a:spAutoFit/>
          </a:bodyPr>
          <a:lstStyle/>
          <a:p>
            <a:pPr algn="l">
              <a:lnSpc>
                <a:spcPts val="5040"/>
              </a:lnSpc>
            </a:pPr>
            <a:r>
              <a:rPr lang="en-US" sz="4200" b="true">
                <a:solidFill>
                  <a:srgbClr val="000000"/>
                </a:solidFill>
                <a:latin typeface="Arial Bold"/>
                <a:ea typeface="Arial Bold"/>
                <a:cs typeface="Arial Bold"/>
                <a:sym typeface="Arial Bold"/>
              </a:rPr>
              <a:t>Filter method</a:t>
            </a:r>
            <a:r>
              <a:rPr lang="en-US" sz="4200">
                <a:solidFill>
                  <a:srgbClr val="000000"/>
                </a:solidFill>
                <a:latin typeface="Arial"/>
                <a:ea typeface="Arial"/>
                <a:cs typeface="Arial"/>
                <a:sym typeface="Arial"/>
              </a:rPr>
              <a:t>: use Mutual Information for joints and action classes</a:t>
            </a:r>
          </a:p>
          <a:p>
            <a:pPr algn="l">
              <a:lnSpc>
                <a:spcPts val="5040"/>
              </a:lnSpc>
            </a:pPr>
            <a:r>
              <a:rPr lang="en-US" sz="4200">
                <a:solidFill>
                  <a:srgbClr val="000000"/>
                </a:solidFill>
                <a:latin typeface="Arial"/>
                <a:ea typeface="Arial"/>
                <a:cs typeface="Arial"/>
                <a:sym typeface="Arial"/>
              </a:rPr>
              <a:t>→ Hand joints (7,11) and foot joints (15,19) possess high MI</a:t>
            </a:r>
          </a:p>
          <a:p>
            <a:pPr algn="l">
              <a:lnSpc>
                <a:spcPts val="5040"/>
              </a:lnSpc>
            </a:pPr>
            <a:r>
              <a:rPr lang="en-US" sz="4200" b="true">
                <a:solidFill>
                  <a:srgbClr val="000000"/>
                </a:solidFill>
                <a:latin typeface="Arial Bold"/>
                <a:ea typeface="Arial Bold"/>
                <a:cs typeface="Arial Bold"/>
                <a:sym typeface="Arial Bold"/>
              </a:rPr>
              <a:t>Wrapper method</a:t>
            </a:r>
            <a:r>
              <a:rPr lang="en-US" sz="4200">
                <a:solidFill>
                  <a:srgbClr val="000000"/>
                </a:solidFill>
                <a:latin typeface="Arial"/>
                <a:ea typeface="Arial"/>
                <a:cs typeface="Arial"/>
                <a:sym typeface="Arial"/>
              </a:rPr>
              <a:t>: incrementally add joints into the downstream linear classification model</a:t>
            </a:r>
          </a:p>
          <a:p>
            <a:pPr algn="l">
              <a:lnSpc>
                <a:spcPts val="5040"/>
              </a:lnSpc>
            </a:pPr>
            <a:r>
              <a:rPr lang="en-US" sz="4200">
                <a:solidFill>
                  <a:srgbClr val="000000"/>
                </a:solidFill>
                <a:latin typeface="Arial"/>
                <a:ea typeface="Arial"/>
                <a:cs typeface="Arial"/>
                <a:sym typeface="Arial"/>
              </a:rPr>
              <a:t>→ Only 12 primary joints (hands, feet, head) maintain 95% accuracy while reducing computational load by 50%.</a:t>
            </a:r>
          </a:p>
          <a:p>
            <a:pPr algn="l">
              <a:lnSpc>
                <a:spcPts val="5040"/>
              </a:lnSpc>
            </a:pPr>
            <a:r>
              <a:rPr lang="en-US" sz="4200" b="true">
                <a:solidFill>
                  <a:srgbClr val="000000"/>
                </a:solidFill>
                <a:latin typeface="Arial Bold"/>
                <a:ea typeface="Arial Bold"/>
                <a:cs typeface="Arial Bold"/>
                <a:sym typeface="Arial Bold"/>
              </a:rPr>
              <a:t>Embedded Method</a:t>
            </a:r>
            <a:r>
              <a:rPr lang="en-US" sz="4200">
                <a:solidFill>
                  <a:srgbClr val="000000"/>
                </a:solidFill>
                <a:latin typeface="Arial"/>
                <a:ea typeface="Arial"/>
                <a:cs typeface="Arial"/>
                <a:sym typeface="Arial"/>
              </a:rPr>
              <a:t>: select via Self-Attention weights from Context Encoder</a:t>
            </a:r>
          </a:p>
          <a:p>
            <a:pPr algn="l">
              <a:lnSpc>
                <a:spcPts val="5040"/>
              </a:lnSpc>
            </a:pPr>
            <a:r>
              <a:rPr lang="en-US" sz="4200">
                <a:solidFill>
                  <a:srgbClr val="000000"/>
                </a:solidFill>
                <a:latin typeface="Arial"/>
                <a:ea typeface="Arial"/>
                <a:cs typeface="Arial"/>
                <a:sym typeface="Arial"/>
              </a:rPr>
              <a:t>→ Moving joints receive the largest Attention Share</a:t>
            </a:r>
          </a:p>
        </p:txBody>
      </p:sp>
      <p:sp>
        <p:nvSpPr>
          <p:cNvPr name="TextBox 4" id="4"/>
          <p:cNvSpPr txBox="true"/>
          <p:nvPr/>
        </p:nvSpPr>
        <p:spPr>
          <a:xfrm rot="0">
            <a:off x="384972" y="135419"/>
            <a:ext cx="5081588" cy="742950"/>
          </a:xfrm>
          <a:prstGeom prst="rect">
            <a:avLst/>
          </a:prstGeom>
        </p:spPr>
        <p:txBody>
          <a:bodyPr anchor="t" rtlCol="false" tIns="0" lIns="0" bIns="0" rIns="0">
            <a:spAutoFit/>
          </a:bodyPr>
          <a:lstStyle/>
          <a:p>
            <a:pPr algn="l">
              <a:lnSpc>
                <a:spcPts val="5759"/>
              </a:lnSpc>
            </a:pPr>
            <a:r>
              <a:rPr lang="en-US" sz="4800" b="true">
                <a:solidFill>
                  <a:srgbClr val="FFFFFF"/>
                </a:solidFill>
                <a:latin typeface="Arial Bold"/>
                <a:ea typeface="Arial Bold"/>
                <a:cs typeface="Arial Bold"/>
                <a:sym typeface="Arial Bold"/>
              </a:rPr>
              <a:t>Feature Selection</a:t>
            </a:r>
          </a:p>
        </p:txBody>
      </p:sp>
      <p:sp>
        <p:nvSpPr>
          <p:cNvPr name="TextBox 5" id="5"/>
          <p:cNvSpPr txBox="true"/>
          <p:nvPr/>
        </p:nvSpPr>
        <p:spPr>
          <a:xfrm rot="0">
            <a:off x="17034291"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6</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771862" y="3414096"/>
            <a:ext cx="8947880" cy="5967117"/>
          </a:xfrm>
          <a:custGeom>
            <a:avLst/>
            <a:gdLst/>
            <a:ahLst/>
            <a:cxnLst/>
            <a:rect r="r" b="b" t="t" l="l"/>
            <a:pathLst>
              <a:path h="5967117" w="8947880">
                <a:moveTo>
                  <a:pt x="0" y="0"/>
                </a:moveTo>
                <a:lnTo>
                  <a:pt x="8947880" y="0"/>
                </a:lnTo>
                <a:lnTo>
                  <a:pt x="8947880" y="5967117"/>
                </a:lnTo>
                <a:lnTo>
                  <a:pt x="0" y="5967117"/>
                </a:lnTo>
                <a:lnTo>
                  <a:pt x="0" y="0"/>
                </a:lnTo>
                <a:close/>
              </a:path>
            </a:pathLst>
          </a:custGeom>
          <a:blipFill>
            <a:blip r:embed="rId3"/>
            <a:stretch>
              <a:fillRect l="0" t="0" r="0" b="0"/>
            </a:stretch>
          </a:blipFill>
        </p:spPr>
      </p:sp>
      <p:sp>
        <p:nvSpPr>
          <p:cNvPr name="TextBox 4" id="4"/>
          <p:cNvSpPr txBox="true"/>
          <p:nvPr/>
        </p:nvSpPr>
        <p:spPr>
          <a:xfrm rot="0">
            <a:off x="597508" y="1489008"/>
            <a:ext cx="17092984" cy="1295400"/>
          </a:xfrm>
          <a:prstGeom prst="rect">
            <a:avLst/>
          </a:prstGeom>
        </p:spPr>
        <p:txBody>
          <a:bodyPr anchor="t" rtlCol="false" tIns="0" lIns="0" bIns="0" rIns="0">
            <a:spAutoFit/>
          </a:bodyPr>
          <a:lstStyle/>
          <a:p>
            <a:pPr algn="l">
              <a:lnSpc>
                <a:spcPts val="5040"/>
              </a:lnSpc>
            </a:pPr>
            <a:r>
              <a:rPr lang="en-US" sz="4200">
                <a:solidFill>
                  <a:srgbClr val="000000"/>
                </a:solidFill>
                <a:latin typeface="Arial"/>
                <a:ea typeface="Arial"/>
                <a:cs typeface="Arial"/>
                <a:sym typeface="Arial"/>
              </a:rPr>
              <a:t>To understand which joints the model focuses on when recognizing an action.</a:t>
            </a:r>
          </a:p>
        </p:txBody>
      </p:sp>
      <p:sp>
        <p:nvSpPr>
          <p:cNvPr name="TextBox 5" id="5"/>
          <p:cNvSpPr txBox="true"/>
          <p:nvPr/>
        </p:nvSpPr>
        <p:spPr>
          <a:xfrm rot="0">
            <a:off x="384972" y="135419"/>
            <a:ext cx="10700742" cy="742950"/>
          </a:xfrm>
          <a:prstGeom prst="rect">
            <a:avLst/>
          </a:prstGeom>
        </p:spPr>
        <p:txBody>
          <a:bodyPr anchor="t" rtlCol="false" tIns="0" lIns="0" bIns="0" rIns="0">
            <a:spAutoFit/>
          </a:bodyPr>
          <a:lstStyle/>
          <a:p>
            <a:pPr algn="l">
              <a:lnSpc>
                <a:spcPts val="5759"/>
              </a:lnSpc>
            </a:pPr>
            <a:r>
              <a:rPr lang="en-US" sz="4800" b="true">
                <a:solidFill>
                  <a:srgbClr val="FFFFFF"/>
                </a:solidFill>
                <a:latin typeface="Arial Bold"/>
                <a:ea typeface="Arial Bold"/>
                <a:cs typeface="Arial Bold"/>
                <a:sym typeface="Arial Bold"/>
              </a:rPr>
              <a:t>Model Explanation: Attention Rollout</a:t>
            </a:r>
          </a:p>
        </p:txBody>
      </p:sp>
      <p:sp>
        <p:nvSpPr>
          <p:cNvPr name="TextBox 6" id="6"/>
          <p:cNvSpPr txBox="true"/>
          <p:nvPr/>
        </p:nvSpPr>
        <p:spPr>
          <a:xfrm rot="0">
            <a:off x="17034291"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6</a:t>
            </a:r>
          </a:p>
        </p:txBody>
      </p:sp>
      <p:sp>
        <p:nvSpPr>
          <p:cNvPr name="TextBox 7" id="7"/>
          <p:cNvSpPr txBox="true"/>
          <p:nvPr/>
        </p:nvSpPr>
        <p:spPr>
          <a:xfrm rot="0">
            <a:off x="597508" y="4167188"/>
            <a:ext cx="8174354" cy="1933575"/>
          </a:xfrm>
          <a:prstGeom prst="rect">
            <a:avLst/>
          </a:prstGeom>
        </p:spPr>
        <p:txBody>
          <a:bodyPr anchor="t" rtlCol="false" tIns="0" lIns="0" bIns="0" rIns="0">
            <a:spAutoFit/>
          </a:bodyPr>
          <a:lstStyle/>
          <a:p>
            <a:pPr algn="l">
              <a:lnSpc>
                <a:spcPts val="5040"/>
              </a:lnSpc>
            </a:pPr>
            <a:r>
              <a:rPr lang="en-US" sz="4200">
                <a:solidFill>
                  <a:srgbClr val="000000"/>
                </a:solidFill>
                <a:latin typeface="Arial"/>
                <a:ea typeface="Arial"/>
                <a:cs typeface="Arial"/>
                <a:sym typeface="Arial"/>
              </a:rPr>
              <a:t>For action </a:t>
            </a:r>
            <a:r>
              <a:rPr lang="en-US" sz="4200" i="true">
                <a:solidFill>
                  <a:srgbClr val="000000"/>
                </a:solidFill>
                <a:latin typeface="Arial Italics"/>
                <a:ea typeface="Arial Italics"/>
                <a:cs typeface="Arial Italics"/>
                <a:sym typeface="Arial Italics"/>
              </a:rPr>
              <a:t>Waving hand</a:t>
            </a:r>
            <a:r>
              <a:rPr lang="en-US" sz="4200">
                <a:solidFill>
                  <a:srgbClr val="000000"/>
                </a:solidFill>
                <a:latin typeface="Arial"/>
                <a:ea typeface="Arial"/>
                <a:cs typeface="Arial"/>
                <a:sym typeface="Arial"/>
              </a:rPr>
              <a:t>, the attention concentrated highly on both arms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005646" y="2629480"/>
            <a:ext cx="11102930" cy="6628820"/>
          </a:xfrm>
          <a:custGeom>
            <a:avLst/>
            <a:gdLst/>
            <a:ahLst/>
            <a:cxnLst/>
            <a:rect r="r" b="b" t="t" l="l"/>
            <a:pathLst>
              <a:path h="6628820" w="11102930">
                <a:moveTo>
                  <a:pt x="0" y="0"/>
                </a:moveTo>
                <a:lnTo>
                  <a:pt x="11102929" y="0"/>
                </a:lnTo>
                <a:lnTo>
                  <a:pt x="11102929" y="6628820"/>
                </a:lnTo>
                <a:lnTo>
                  <a:pt x="0" y="6628820"/>
                </a:lnTo>
                <a:lnTo>
                  <a:pt x="0" y="0"/>
                </a:lnTo>
                <a:close/>
              </a:path>
            </a:pathLst>
          </a:custGeom>
          <a:blipFill>
            <a:blip r:embed="rId3"/>
            <a:stretch>
              <a:fillRect l="0" t="-510" r="0" b="-510"/>
            </a:stretch>
          </a:blipFill>
        </p:spPr>
      </p:sp>
      <p:sp>
        <p:nvSpPr>
          <p:cNvPr name="TextBox 4" id="4"/>
          <p:cNvSpPr txBox="true"/>
          <p:nvPr/>
        </p:nvSpPr>
        <p:spPr>
          <a:xfrm rot="0">
            <a:off x="597508" y="1511623"/>
            <a:ext cx="17092984" cy="1295400"/>
          </a:xfrm>
          <a:prstGeom prst="rect">
            <a:avLst/>
          </a:prstGeom>
        </p:spPr>
        <p:txBody>
          <a:bodyPr anchor="t" rtlCol="false" tIns="0" lIns="0" bIns="0" rIns="0">
            <a:spAutoFit/>
          </a:bodyPr>
          <a:lstStyle/>
          <a:p>
            <a:pPr algn="l">
              <a:lnSpc>
                <a:spcPts val="5040"/>
              </a:lnSpc>
            </a:pPr>
            <a:r>
              <a:rPr lang="en-US" sz="4200">
                <a:solidFill>
                  <a:srgbClr val="000000"/>
                </a:solidFill>
                <a:latin typeface="Arial"/>
                <a:ea typeface="Arial"/>
                <a:cs typeface="Arial"/>
                <a:sym typeface="Arial"/>
              </a:rPr>
              <a:t>To identify which input joints and frames have the greatest influence on the model’s output.</a:t>
            </a:r>
          </a:p>
        </p:txBody>
      </p:sp>
      <p:sp>
        <p:nvSpPr>
          <p:cNvPr name="TextBox 5" id="5"/>
          <p:cNvSpPr txBox="true"/>
          <p:nvPr/>
        </p:nvSpPr>
        <p:spPr>
          <a:xfrm rot="0">
            <a:off x="384972" y="135419"/>
            <a:ext cx="10907316" cy="742950"/>
          </a:xfrm>
          <a:prstGeom prst="rect">
            <a:avLst/>
          </a:prstGeom>
        </p:spPr>
        <p:txBody>
          <a:bodyPr anchor="t" rtlCol="false" tIns="0" lIns="0" bIns="0" rIns="0">
            <a:spAutoFit/>
          </a:bodyPr>
          <a:lstStyle/>
          <a:p>
            <a:pPr algn="l">
              <a:lnSpc>
                <a:spcPts val="5759"/>
              </a:lnSpc>
            </a:pPr>
            <a:r>
              <a:rPr lang="en-US" sz="4800" b="true">
                <a:solidFill>
                  <a:srgbClr val="FFFFFF"/>
                </a:solidFill>
                <a:latin typeface="Arial Bold"/>
                <a:ea typeface="Arial Bold"/>
                <a:cs typeface="Arial Bold"/>
                <a:sym typeface="Arial Bold"/>
              </a:rPr>
              <a:t>Model Explanation: Gradient Saliency</a:t>
            </a:r>
          </a:p>
        </p:txBody>
      </p:sp>
      <p:sp>
        <p:nvSpPr>
          <p:cNvPr name="TextBox 6" id="6"/>
          <p:cNvSpPr txBox="true"/>
          <p:nvPr/>
        </p:nvSpPr>
        <p:spPr>
          <a:xfrm rot="0">
            <a:off x="17034291"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6</a:t>
            </a:r>
          </a:p>
        </p:txBody>
      </p:sp>
      <p:sp>
        <p:nvSpPr>
          <p:cNvPr name="TextBox 7" id="7"/>
          <p:cNvSpPr txBox="true"/>
          <p:nvPr/>
        </p:nvSpPr>
        <p:spPr>
          <a:xfrm rot="0">
            <a:off x="597508" y="4167188"/>
            <a:ext cx="6851097" cy="3848100"/>
          </a:xfrm>
          <a:prstGeom prst="rect">
            <a:avLst/>
          </a:prstGeom>
        </p:spPr>
        <p:txBody>
          <a:bodyPr anchor="t" rtlCol="false" tIns="0" lIns="0" bIns="0" rIns="0">
            <a:spAutoFit/>
          </a:bodyPr>
          <a:lstStyle/>
          <a:p>
            <a:pPr algn="l">
              <a:lnSpc>
                <a:spcPts val="5040"/>
              </a:lnSpc>
            </a:pPr>
            <a:r>
              <a:rPr lang="en-US" sz="4200">
                <a:solidFill>
                  <a:srgbClr val="000000"/>
                </a:solidFill>
                <a:latin typeface="Arial"/>
                <a:ea typeface="Arial"/>
                <a:cs typeface="Arial"/>
                <a:sym typeface="Arial"/>
              </a:rPr>
              <a:t>For action Waving hand, sensitivity is highly concentrated on the hand joints and the upper body during the frames executing the motion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081123" y="2464110"/>
            <a:ext cx="13315615" cy="7675821"/>
          </a:xfrm>
          <a:custGeom>
            <a:avLst/>
            <a:gdLst/>
            <a:ahLst/>
            <a:cxnLst/>
            <a:rect r="r" b="b" t="t" l="l"/>
            <a:pathLst>
              <a:path h="7675821" w="13315615">
                <a:moveTo>
                  <a:pt x="0" y="0"/>
                </a:moveTo>
                <a:lnTo>
                  <a:pt x="13315615" y="0"/>
                </a:lnTo>
                <a:lnTo>
                  <a:pt x="13315615" y="7675821"/>
                </a:lnTo>
                <a:lnTo>
                  <a:pt x="0" y="7675821"/>
                </a:lnTo>
                <a:lnTo>
                  <a:pt x="0" y="0"/>
                </a:lnTo>
                <a:close/>
              </a:path>
            </a:pathLst>
          </a:custGeom>
          <a:blipFill>
            <a:blip r:embed="rId3"/>
            <a:stretch>
              <a:fillRect l="0" t="0" r="0" b="0"/>
            </a:stretch>
          </a:blipFill>
        </p:spPr>
      </p:sp>
      <p:sp>
        <p:nvSpPr>
          <p:cNvPr name="TextBox 4" id="4"/>
          <p:cNvSpPr txBox="true"/>
          <p:nvPr/>
        </p:nvSpPr>
        <p:spPr>
          <a:xfrm rot="0">
            <a:off x="597508" y="1572947"/>
            <a:ext cx="17092984" cy="1295400"/>
          </a:xfrm>
          <a:prstGeom prst="rect">
            <a:avLst/>
          </a:prstGeom>
        </p:spPr>
        <p:txBody>
          <a:bodyPr anchor="t" rtlCol="false" tIns="0" lIns="0" bIns="0" rIns="0">
            <a:spAutoFit/>
          </a:bodyPr>
          <a:lstStyle/>
          <a:p>
            <a:pPr algn="l">
              <a:lnSpc>
                <a:spcPts val="5040"/>
              </a:lnSpc>
            </a:pPr>
            <a:r>
              <a:rPr lang="en-US" sz="4200">
                <a:solidFill>
                  <a:srgbClr val="000000"/>
                </a:solidFill>
                <a:latin typeface="Arial"/>
                <a:ea typeface="Arial"/>
                <a:cs typeface="Arial"/>
                <a:sym typeface="Arial"/>
              </a:rPr>
              <a:t>To quantify the contribution of each latent feature to the model’s prediction.</a:t>
            </a:r>
          </a:p>
        </p:txBody>
      </p:sp>
      <p:sp>
        <p:nvSpPr>
          <p:cNvPr name="TextBox 5" id="5"/>
          <p:cNvSpPr txBox="true"/>
          <p:nvPr/>
        </p:nvSpPr>
        <p:spPr>
          <a:xfrm rot="0">
            <a:off x="384972" y="135419"/>
            <a:ext cx="7451229" cy="742950"/>
          </a:xfrm>
          <a:prstGeom prst="rect">
            <a:avLst/>
          </a:prstGeom>
        </p:spPr>
        <p:txBody>
          <a:bodyPr anchor="t" rtlCol="false" tIns="0" lIns="0" bIns="0" rIns="0">
            <a:spAutoFit/>
          </a:bodyPr>
          <a:lstStyle/>
          <a:p>
            <a:pPr algn="l">
              <a:lnSpc>
                <a:spcPts val="5759"/>
              </a:lnSpc>
            </a:pPr>
            <a:r>
              <a:rPr lang="en-US" sz="4800" b="true">
                <a:solidFill>
                  <a:srgbClr val="FFFFFF"/>
                </a:solidFill>
                <a:latin typeface="Arial Bold"/>
                <a:ea typeface="Arial Bold"/>
                <a:cs typeface="Arial Bold"/>
                <a:sym typeface="Arial Bold"/>
              </a:rPr>
              <a:t>Model Explanation: SHAP</a:t>
            </a:r>
          </a:p>
        </p:txBody>
      </p:sp>
      <p:sp>
        <p:nvSpPr>
          <p:cNvPr name="TextBox 6" id="6"/>
          <p:cNvSpPr txBox="true"/>
          <p:nvPr/>
        </p:nvSpPr>
        <p:spPr>
          <a:xfrm rot="0">
            <a:off x="17034291"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048078" y="2206564"/>
            <a:ext cx="12191844" cy="4163320"/>
          </a:xfrm>
          <a:custGeom>
            <a:avLst/>
            <a:gdLst/>
            <a:ahLst/>
            <a:cxnLst/>
            <a:rect r="r" b="b" t="t" l="l"/>
            <a:pathLst>
              <a:path h="4163320" w="12191844">
                <a:moveTo>
                  <a:pt x="0" y="0"/>
                </a:moveTo>
                <a:lnTo>
                  <a:pt x="12191844" y="0"/>
                </a:lnTo>
                <a:lnTo>
                  <a:pt x="12191844" y="4163319"/>
                </a:lnTo>
                <a:lnTo>
                  <a:pt x="0" y="4163319"/>
                </a:lnTo>
                <a:lnTo>
                  <a:pt x="0" y="0"/>
                </a:lnTo>
                <a:close/>
              </a:path>
            </a:pathLst>
          </a:custGeom>
          <a:blipFill>
            <a:blip r:embed="rId3"/>
            <a:stretch>
              <a:fillRect l="0" t="0" r="0" b="0"/>
            </a:stretch>
          </a:blipFill>
        </p:spPr>
      </p:sp>
      <p:sp>
        <p:nvSpPr>
          <p:cNvPr name="TextBox 4" id="4"/>
          <p:cNvSpPr txBox="true"/>
          <p:nvPr/>
        </p:nvSpPr>
        <p:spPr>
          <a:xfrm rot="0">
            <a:off x="334108" y="229172"/>
            <a:ext cx="6164660" cy="657225"/>
          </a:xfrm>
          <a:prstGeom prst="rect">
            <a:avLst/>
          </a:prstGeom>
        </p:spPr>
        <p:txBody>
          <a:bodyPr anchor="t" rtlCol="false" tIns="0" lIns="0" bIns="0" rIns="0">
            <a:spAutoFit/>
          </a:bodyPr>
          <a:lstStyle/>
          <a:p>
            <a:pPr algn="l">
              <a:lnSpc>
                <a:spcPts val="5040"/>
              </a:lnSpc>
            </a:pPr>
            <a:r>
              <a:rPr lang="en-US" sz="4200" b="true">
                <a:solidFill>
                  <a:srgbClr val="FFFFFF"/>
                </a:solidFill>
                <a:latin typeface="Arial Bold"/>
                <a:ea typeface="Arial Bold"/>
                <a:cs typeface="Arial Bold"/>
                <a:sym typeface="Arial Bold"/>
              </a:rPr>
              <a:t>Late Fusion and Results</a:t>
            </a:r>
          </a:p>
        </p:txBody>
      </p:sp>
      <p:sp>
        <p:nvSpPr>
          <p:cNvPr name="TextBox 5" id="5"/>
          <p:cNvSpPr txBox="true"/>
          <p:nvPr/>
        </p:nvSpPr>
        <p:spPr>
          <a:xfrm rot="0">
            <a:off x="16968159"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7</a:t>
            </a:r>
          </a:p>
        </p:txBody>
      </p:sp>
      <p:sp>
        <p:nvSpPr>
          <p:cNvPr name="TextBox 6" id="6"/>
          <p:cNvSpPr txBox="true"/>
          <p:nvPr/>
        </p:nvSpPr>
        <p:spPr>
          <a:xfrm rot="0">
            <a:off x="597508" y="1327653"/>
            <a:ext cx="17092984" cy="7038975"/>
          </a:xfrm>
          <a:prstGeom prst="rect">
            <a:avLst/>
          </a:prstGeom>
        </p:spPr>
        <p:txBody>
          <a:bodyPr anchor="t" rtlCol="false" tIns="0" lIns="0" bIns="0" rIns="0">
            <a:spAutoFit/>
          </a:bodyPr>
          <a:lstStyle/>
          <a:p>
            <a:pPr algn="l">
              <a:lnSpc>
                <a:spcPts val="5040"/>
              </a:lnSpc>
            </a:pPr>
            <a:r>
              <a:rPr lang="en-US" sz="4200">
                <a:solidFill>
                  <a:srgbClr val="000000"/>
                </a:solidFill>
                <a:latin typeface="Arial"/>
                <a:ea typeface="Arial"/>
                <a:cs typeface="Arial"/>
                <a:sym typeface="Arial"/>
              </a:rPr>
              <a:t>Multi-stream late fusion pipeline:</a:t>
            </a:r>
          </a:p>
          <a:p>
            <a:pPr algn="l">
              <a:lnSpc>
                <a:spcPts val="5040"/>
              </a:lnSpc>
            </a:pPr>
          </a:p>
          <a:p>
            <a:pPr algn="l">
              <a:lnSpc>
                <a:spcPts val="5040"/>
              </a:lnSpc>
            </a:pPr>
          </a:p>
          <a:p>
            <a:pPr algn="l">
              <a:lnSpc>
                <a:spcPts val="5040"/>
              </a:lnSpc>
            </a:pPr>
          </a:p>
          <a:p>
            <a:pPr algn="l">
              <a:lnSpc>
                <a:spcPts val="5040"/>
              </a:lnSpc>
            </a:pPr>
          </a:p>
          <a:p>
            <a:pPr algn="l">
              <a:lnSpc>
                <a:spcPts val="5040"/>
              </a:lnSpc>
            </a:pPr>
          </a:p>
          <a:p>
            <a:pPr algn="l">
              <a:lnSpc>
                <a:spcPts val="5040"/>
              </a:lnSpc>
            </a:pPr>
          </a:p>
          <a:p>
            <a:pPr algn="l">
              <a:lnSpc>
                <a:spcPts val="5040"/>
              </a:lnSpc>
            </a:pPr>
          </a:p>
          <a:p>
            <a:pPr algn="l">
              <a:lnSpc>
                <a:spcPts val="5040"/>
              </a:lnSpc>
            </a:pPr>
          </a:p>
          <a:p>
            <a:pPr algn="l">
              <a:lnSpc>
                <a:spcPts val="5040"/>
              </a:lnSpc>
            </a:pPr>
            <a:r>
              <a:rPr lang="en-US" sz="4200">
                <a:solidFill>
                  <a:srgbClr val="000000"/>
                </a:solidFill>
                <a:latin typeface="Arial"/>
                <a:ea typeface="Arial"/>
                <a:cs typeface="Arial"/>
                <a:sym typeface="Arial"/>
              </a:rPr>
              <a:t>The output soft labels of three independent streams Joint, Bone, and Velocity are fused with a optimal weight set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1183213" y="1521619"/>
          <a:ext cx="6111106" cy="4305300"/>
        </p:xfrm>
        <a:graphic>
          <a:graphicData uri="http://schemas.openxmlformats.org/drawingml/2006/table">
            <a:tbl>
              <a:tblPr/>
              <a:tblGrid>
                <a:gridCol w="2903474"/>
                <a:gridCol w="1586862"/>
                <a:gridCol w="1620770"/>
              </a:tblGrid>
              <a:tr h="1114765">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Method/ </a:t>
                      </a:r>
                      <a:endParaRPr lang="en-US" sz="1100"/>
                    </a:p>
                    <a:p>
                      <a:pPr algn="ctr">
                        <a:lnSpc>
                          <a:spcPts val="2520"/>
                        </a:lnSpc>
                      </a:pPr>
                      <a:r>
                        <a:rPr lang="en-US" sz="1800" b="true">
                          <a:solidFill>
                            <a:srgbClr val="000000"/>
                          </a:solidFill>
                          <a:latin typeface="Arial Bold"/>
                          <a:ea typeface="Arial Bold"/>
                          <a:cs typeface="Arial Bold"/>
                          <a:sym typeface="Arial Bold"/>
                        </a:rPr>
                        <a:t>Data Stream</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NTU-120X-Sub(%)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NTU-120X-Set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7634">
                <a:tc>
                  <a:txBody>
                    <a:bodyPr anchor="t" rtlCol="false"/>
                    <a:lstStyle/>
                    <a:p>
                      <a:pPr algn="ctr">
                        <a:lnSpc>
                          <a:spcPts val="2520"/>
                        </a:lnSpc>
                        <a:defRPr/>
                      </a:pPr>
                      <a:r>
                        <a:rPr lang="en-US" sz="1800">
                          <a:solidFill>
                            <a:srgbClr val="000000"/>
                          </a:solidFill>
                          <a:latin typeface="Arial"/>
                          <a:ea typeface="Arial"/>
                          <a:cs typeface="Arial"/>
                          <a:sym typeface="Arial"/>
                        </a:rPr>
                        <a:t>Joint Stream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73.73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75.85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7634">
                <a:tc>
                  <a:txBody>
                    <a:bodyPr anchor="t" rtlCol="false"/>
                    <a:lstStyle/>
                    <a:p>
                      <a:pPr algn="ctr">
                        <a:lnSpc>
                          <a:spcPts val="2520"/>
                        </a:lnSpc>
                        <a:defRPr/>
                      </a:pPr>
                      <a:r>
                        <a:rPr lang="en-US" sz="1800">
                          <a:solidFill>
                            <a:srgbClr val="000000"/>
                          </a:solidFill>
                          <a:latin typeface="Arial"/>
                          <a:ea typeface="Arial"/>
                          <a:cs typeface="Arial"/>
                          <a:sym typeface="Arial"/>
                        </a:rPr>
                        <a:t>Bone Stream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71.72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73.60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7634">
                <a:tc>
                  <a:txBody>
                    <a:bodyPr anchor="t" rtlCol="false"/>
                    <a:lstStyle/>
                    <a:p>
                      <a:pPr algn="ctr">
                        <a:lnSpc>
                          <a:spcPts val="2520"/>
                        </a:lnSpc>
                        <a:defRPr/>
                      </a:pPr>
                      <a:r>
                        <a:rPr lang="en-US" sz="1800">
                          <a:solidFill>
                            <a:srgbClr val="000000"/>
                          </a:solidFill>
                          <a:latin typeface="Arial"/>
                          <a:ea typeface="Arial"/>
                          <a:cs typeface="Arial"/>
                          <a:sym typeface="Arial"/>
                        </a:rPr>
                        <a:t>Velocity Stream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65.81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68.20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7634">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Ensemble Late Fusion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78.30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80.50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286767" y="165220"/>
            <a:ext cx="6164660" cy="657225"/>
          </a:xfrm>
          <a:prstGeom prst="rect">
            <a:avLst/>
          </a:prstGeom>
        </p:spPr>
        <p:txBody>
          <a:bodyPr anchor="t" rtlCol="false" tIns="0" lIns="0" bIns="0" rIns="0">
            <a:spAutoFit/>
          </a:bodyPr>
          <a:lstStyle/>
          <a:p>
            <a:pPr algn="l">
              <a:lnSpc>
                <a:spcPts val="5040"/>
              </a:lnSpc>
            </a:pPr>
            <a:r>
              <a:rPr lang="en-US" sz="4200" b="true">
                <a:solidFill>
                  <a:srgbClr val="FFFFFF"/>
                </a:solidFill>
                <a:latin typeface="Arial Bold"/>
                <a:ea typeface="Arial Bold"/>
                <a:cs typeface="Arial Bold"/>
                <a:sym typeface="Arial Bold"/>
              </a:rPr>
              <a:t>Late Fusion and Results</a:t>
            </a:r>
          </a:p>
        </p:txBody>
      </p:sp>
      <p:sp>
        <p:nvSpPr>
          <p:cNvPr name="TextBox 5" id="5"/>
          <p:cNvSpPr txBox="true"/>
          <p:nvPr/>
        </p:nvSpPr>
        <p:spPr>
          <a:xfrm rot="0">
            <a:off x="16968159"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7</a:t>
            </a:r>
          </a:p>
        </p:txBody>
      </p:sp>
      <p:sp>
        <p:nvSpPr>
          <p:cNvPr name="TextBox 6" id="6"/>
          <p:cNvSpPr txBox="true"/>
          <p:nvPr/>
        </p:nvSpPr>
        <p:spPr>
          <a:xfrm rot="0">
            <a:off x="867137" y="6022181"/>
            <a:ext cx="6752122" cy="2743200"/>
          </a:xfrm>
          <a:prstGeom prst="rect">
            <a:avLst/>
          </a:prstGeom>
        </p:spPr>
        <p:txBody>
          <a:bodyPr anchor="t" rtlCol="false" tIns="0" lIns="0" bIns="0" rIns="0">
            <a:spAutoFit/>
          </a:bodyPr>
          <a:lstStyle/>
          <a:p>
            <a:pPr algn="l">
              <a:lnSpc>
                <a:spcPts val="4320"/>
              </a:lnSpc>
            </a:pPr>
            <a:r>
              <a:rPr lang="en-US" sz="3600">
                <a:solidFill>
                  <a:srgbClr val="000000"/>
                </a:solidFill>
                <a:latin typeface="Arial"/>
                <a:ea typeface="Arial"/>
                <a:cs typeface="Arial"/>
                <a:sym typeface="Arial"/>
              </a:rPr>
              <a:t>Ensemble Late Fusion is much better than every single stream</a:t>
            </a:r>
          </a:p>
          <a:p>
            <a:pPr algn="l">
              <a:lnSpc>
                <a:spcPts val="4320"/>
              </a:lnSpc>
            </a:pPr>
            <a:r>
              <a:rPr lang="en-US" sz="3600">
                <a:solidFill>
                  <a:srgbClr val="000000"/>
                </a:solidFill>
                <a:latin typeface="Arial"/>
                <a:ea typeface="Arial"/>
                <a:cs typeface="Arial"/>
                <a:sym typeface="Arial"/>
              </a:rPr>
              <a:t>→ Each stream contains complementary information, not redundant</a:t>
            </a:r>
          </a:p>
        </p:txBody>
      </p:sp>
      <p:graphicFrame>
        <p:nvGraphicFramePr>
          <p:cNvPr name="Table 7" id="7"/>
          <p:cNvGraphicFramePr>
            <a:graphicFrameLocks noGrp="true"/>
          </p:cNvGraphicFramePr>
          <p:nvPr/>
        </p:nvGraphicFramePr>
        <p:xfrm>
          <a:off x="9077084" y="1521619"/>
          <a:ext cx="8091019" cy="5886450"/>
        </p:xfrm>
        <a:graphic>
          <a:graphicData uri="http://schemas.openxmlformats.org/drawingml/2006/table">
            <a:tbl>
              <a:tblPr/>
              <a:tblGrid>
                <a:gridCol w="2348614"/>
                <a:gridCol w="2446157"/>
                <a:gridCol w="1595885"/>
                <a:gridCol w="1700364"/>
              </a:tblGrid>
              <a:tr h="1112098">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Method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NTU-120X-Sub(%)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NTU-120X-Set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725">
                <a:tc>
                  <a:txBody>
                    <a:bodyPr anchor="t" rtlCol="false"/>
                    <a:lstStyle/>
                    <a:p>
                      <a:pPr algn="ctr">
                        <a:lnSpc>
                          <a:spcPts val="2520"/>
                        </a:lnSpc>
                        <a:defRPr/>
                      </a:pPr>
                      <a:r>
                        <a:rPr lang="en-US" sz="1800">
                          <a:solidFill>
                            <a:srgbClr val="000000"/>
                          </a:solidFill>
                          <a:latin typeface="Arial"/>
                          <a:ea typeface="Arial"/>
                          <a:cs typeface="Arial"/>
                          <a:sym typeface="Arial"/>
                        </a:rPr>
                        <a:t>LongTGAN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35.6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36.8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Joint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725">
                <a:tc>
                  <a:txBody>
                    <a:bodyPr anchor="t" rtlCol="false"/>
                    <a:lstStyle/>
                    <a:p>
                      <a:pPr algn="ctr">
                        <a:lnSpc>
                          <a:spcPts val="2520"/>
                        </a:lnSpc>
                        <a:defRPr/>
                      </a:pPr>
                      <a:r>
                        <a:rPr lang="en-US" sz="1800">
                          <a:solidFill>
                            <a:srgbClr val="000000"/>
                          </a:solidFill>
                          <a:latin typeface="Arial"/>
                          <a:ea typeface="Arial"/>
                          <a:cs typeface="Arial"/>
                          <a:sym typeface="Arial"/>
                        </a:rPr>
                        <a:t>SkeletonMAE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72.5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74.2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Joint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725">
                <a:tc>
                  <a:txBody>
                    <a:bodyPr anchor="t" rtlCol="false"/>
                    <a:lstStyle/>
                    <a:p>
                      <a:pPr algn="ctr">
                        <a:lnSpc>
                          <a:spcPts val="2520"/>
                        </a:lnSpc>
                        <a:defRPr/>
                      </a:pPr>
                      <a:r>
                        <a:rPr lang="en-US" sz="1800">
                          <a:solidFill>
                            <a:srgbClr val="000000"/>
                          </a:solidFill>
                          <a:latin typeface="Arial"/>
                          <a:ea typeface="Arial"/>
                          <a:cs typeface="Arial"/>
                          <a:sym typeface="Arial"/>
                        </a:rPr>
                        <a:t>CrossCLR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67.9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69.1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Joint+Bone+Motion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725">
                <a:tc>
                  <a:txBody>
                    <a:bodyPr anchor="t" rtlCol="false"/>
                    <a:lstStyle/>
                    <a:p>
                      <a:pPr algn="ctr">
                        <a:lnSpc>
                          <a:spcPts val="2520"/>
                        </a:lnSpc>
                        <a:defRPr/>
                      </a:pPr>
                      <a:r>
                        <a:rPr lang="en-US" sz="1800">
                          <a:solidFill>
                            <a:srgbClr val="000000"/>
                          </a:solidFill>
                          <a:latin typeface="Arial"/>
                          <a:ea typeface="Arial"/>
                          <a:cs typeface="Arial"/>
                          <a:sym typeface="Arial"/>
                        </a:rPr>
                        <a:t>ActCLR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74.3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75.7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Joint+Bone+Motion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725">
                <a:tc>
                  <a:txBody>
                    <a:bodyPr anchor="t" rtlCol="false"/>
                    <a:lstStyle/>
                    <a:p>
                      <a:pPr algn="ctr">
                        <a:lnSpc>
                          <a:spcPts val="2520"/>
                        </a:lnSpc>
                        <a:defRPr/>
                      </a:pPr>
                      <a:r>
                        <a:rPr lang="en-US" sz="1800">
                          <a:solidFill>
                            <a:srgbClr val="000000"/>
                          </a:solidFill>
                          <a:latin typeface="Arial"/>
                          <a:ea typeface="Arial"/>
                          <a:cs typeface="Arial"/>
                          <a:sym typeface="Arial"/>
                        </a:rPr>
                        <a:t>MAMP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78.6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80.9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Joint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725">
                <a:tc>
                  <a:txBody>
                    <a:bodyPr anchor="t" rtlCol="false"/>
                    <a:lstStyle/>
                    <a:p>
                      <a:pPr algn="ctr">
                        <a:lnSpc>
                          <a:spcPts val="2520"/>
                        </a:lnSpc>
                        <a:defRPr/>
                      </a:pPr>
                      <a:r>
                        <a:rPr lang="en-US" sz="1800" b="true">
                          <a:solidFill>
                            <a:srgbClr val="000000"/>
                          </a:solidFill>
                          <a:latin typeface="Arial Bold"/>
                          <a:ea typeface="Arial Bold"/>
                          <a:cs typeface="Arial Bold"/>
                          <a:sym typeface="Arial Bold"/>
                        </a:rPr>
                        <a:t>Ours - Ensemble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u="sng">
                          <a:solidFill>
                            <a:srgbClr val="000000"/>
                          </a:solidFill>
                          <a:latin typeface="Arial"/>
                          <a:ea typeface="Arial"/>
                          <a:cs typeface="Arial"/>
                          <a:sym typeface="Arial"/>
                        </a:rPr>
                        <a:t>78.3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u="sng">
                          <a:solidFill>
                            <a:srgbClr val="000000"/>
                          </a:solidFill>
                          <a:latin typeface="Arial"/>
                          <a:ea typeface="Arial"/>
                          <a:cs typeface="Arial"/>
                          <a:sym typeface="Arial"/>
                        </a:rPr>
                        <a:t>80.5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al"/>
                          <a:ea typeface="Arial"/>
                          <a:cs typeface="Arial"/>
                          <a:sym typeface="Arial"/>
                        </a:rPr>
                        <a:t>Joint+Bone+Velo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8" id="8"/>
          <p:cNvSpPr txBox="true"/>
          <p:nvPr/>
        </p:nvSpPr>
        <p:spPr>
          <a:xfrm rot="0">
            <a:off x="8741497" y="7517938"/>
            <a:ext cx="10737948" cy="1114425"/>
          </a:xfrm>
          <a:prstGeom prst="rect">
            <a:avLst/>
          </a:prstGeom>
        </p:spPr>
        <p:txBody>
          <a:bodyPr anchor="t" rtlCol="false" tIns="0" lIns="0" bIns="0" rIns="0">
            <a:spAutoFit/>
          </a:bodyPr>
          <a:lstStyle/>
          <a:p>
            <a:pPr algn="l">
              <a:lnSpc>
                <a:spcPts val="4320"/>
              </a:lnSpc>
            </a:pPr>
            <a:r>
              <a:rPr lang="en-US" sz="3600">
                <a:solidFill>
                  <a:srgbClr val="000000"/>
                </a:solidFill>
                <a:latin typeface="Arial"/>
                <a:ea typeface="Arial"/>
                <a:cs typeface="Arial"/>
                <a:sym typeface="Arial"/>
              </a:rPr>
              <a:t>Our work surpassed most of the SOTA deep learning baseline, coming nearly to MAMP</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44598" y="218170"/>
            <a:ext cx="2904034" cy="657225"/>
          </a:xfrm>
          <a:prstGeom prst="rect">
            <a:avLst/>
          </a:prstGeom>
        </p:spPr>
        <p:txBody>
          <a:bodyPr anchor="t" rtlCol="false" tIns="0" lIns="0" bIns="0" rIns="0">
            <a:spAutoFit/>
          </a:bodyPr>
          <a:lstStyle/>
          <a:p>
            <a:pPr algn="l">
              <a:lnSpc>
                <a:spcPts val="5040"/>
              </a:lnSpc>
            </a:pPr>
            <a:r>
              <a:rPr lang="en-US" sz="4200" b="true">
                <a:solidFill>
                  <a:srgbClr val="FFFFFF"/>
                </a:solidFill>
                <a:latin typeface="Arial Bold"/>
                <a:ea typeface="Arial Bold"/>
                <a:cs typeface="Arial Bold"/>
                <a:sym typeface="Arial Bold"/>
              </a:rPr>
              <a:t>Conclusion</a:t>
            </a:r>
          </a:p>
        </p:txBody>
      </p:sp>
      <p:sp>
        <p:nvSpPr>
          <p:cNvPr name="TextBox 4" id="4"/>
          <p:cNvSpPr txBox="true"/>
          <p:nvPr/>
        </p:nvSpPr>
        <p:spPr>
          <a:xfrm rot="0">
            <a:off x="444598" y="1788809"/>
            <a:ext cx="17525855" cy="491490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Contributions:</a:t>
            </a:r>
          </a:p>
          <a:p>
            <a:pPr algn="l" marL="777240" indent="-388620" lvl="1">
              <a:lnSpc>
                <a:spcPts val="4320"/>
              </a:lnSpc>
              <a:buFont typeface="Arial"/>
              <a:buChar char="•"/>
            </a:pPr>
            <a:r>
              <a:rPr lang="en-US" sz="3600">
                <a:solidFill>
                  <a:srgbClr val="000000"/>
                </a:solidFill>
                <a:latin typeface="Arial"/>
                <a:ea typeface="Arial"/>
                <a:cs typeface="Arial"/>
                <a:sym typeface="Arial"/>
              </a:rPr>
              <a:t>Implemented a full data science pipeline for 3D skeleton-based action recognition on NTU RGB+D 120 </a:t>
            </a:r>
          </a:p>
          <a:p>
            <a:pPr algn="l" marL="777240" indent="-388620" lvl="1">
              <a:lnSpc>
                <a:spcPts val="4320"/>
              </a:lnSpc>
              <a:buFont typeface="Arial"/>
              <a:buChar char="•"/>
            </a:pPr>
            <a:r>
              <a:rPr lang="en-US" sz="3600">
                <a:solidFill>
                  <a:srgbClr val="000000"/>
                </a:solidFill>
                <a:latin typeface="Arial"/>
                <a:ea typeface="Arial"/>
                <a:cs typeface="Arial"/>
                <a:sym typeface="Arial"/>
              </a:rPr>
              <a:t>XAIs confirm that the model learns genuine features rather than noise</a:t>
            </a:r>
          </a:p>
          <a:p>
            <a:pPr algn="l" marL="777240" indent="-388620" lvl="1">
              <a:lnSpc>
                <a:spcPts val="4320"/>
              </a:lnSpc>
              <a:buFont typeface="Arial"/>
              <a:buChar char="•"/>
            </a:pPr>
            <a:r>
              <a:rPr lang="en-US" sz="3600">
                <a:solidFill>
                  <a:srgbClr val="000000"/>
                </a:solidFill>
                <a:latin typeface="Arial"/>
                <a:ea typeface="Arial"/>
                <a:cs typeface="Arial"/>
                <a:sym typeface="Arial"/>
              </a:rPr>
              <a:t>Multi-stream Late Fusion results outperform any single stream and approaching current SOTA self-supervised methods</a:t>
            </a:r>
          </a:p>
          <a:p>
            <a:pPr algn="l">
              <a:lnSpc>
                <a:spcPts val="4320"/>
              </a:lnSpc>
            </a:pPr>
            <a:r>
              <a:rPr lang="en-US" sz="3600" b="true">
                <a:solidFill>
                  <a:srgbClr val="000000"/>
                </a:solidFill>
                <a:latin typeface="Arial Bold"/>
                <a:ea typeface="Arial Bold"/>
                <a:cs typeface="Arial Bold"/>
                <a:sym typeface="Arial Bold"/>
              </a:rPr>
              <a:t>Future works:</a:t>
            </a:r>
          </a:p>
          <a:p>
            <a:pPr algn="l" marL="777240" indent="-388620" lvl="1">
              <a:lnSpc>
                <a:spcPts val="4320"/>
              </a:lnSpc>
              <a:buFont typeface="Arial"/>
              <a:buChar char="•"/>
            </a:pPr>
            <a:r>
              <a:rPr lang="en-US" sz="3600">
                <a:solidFill>
                  <a:srgbClr val="000000"/>
                </a:solidFill>
                <a:latin typeface="Arial"/>
                <a:ea typeface="Arial"/>
                <a:cs typeface="Arial"/>
                <a:sym typeface="Arial"/>
              </a:rPr>
              <a:t>Incorporate stronger augmentation to the preprocessing stage</a:t>
            </a:r>
          </a:p>
          <a:p>
            <a:pPr algn="l" marL="777240" indent="-388620" lvl="1">
              <a:lnSpc>
                <a:spcPts val="4320"/>
              </a:lnSpc>
              <a:buFont typeface="Arial"/>
              <a:buChar char="•"/>
            </a:pPr>
            <a:r>
              <a:rPr lang="en-US" sz="3600">
                <a:solidFill>
                  <a:srgbClr val="000000"/>
                </a:solidFill>
                <a:latin typeface="Arial"/>
                <a:ea typeface="Arial"/>
                <a:cs typeface="Arial"/>
                <a:sym typeface="Arial"/>
              </a:rPr>
              <a:t>Efficiency evaluation and move toward real-time deployment for downstream tasks</a:t>
            </a:r>
          </a:p>
        </p:txBody>
      </p:sp>
      <p:sp>
        <p:nvSpPr>
          <p:cNvPr name="TextBox 5" id="5"/>
          <p:cNvSpPr txBox="true"/>
          <p:nvPr/>
        </p:nvSpPr>
        <p:spPr>
          <a:xfrm rot="0">
            <a:off x="16835914" y="9753295"/>
            <a:ext cx="452123" cy="486413"/>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724605" y="4376547"/>
            <a:ext cx="7524721" cy="1271130"/>
          </a:xfrm>
          <a:prstGeom prst="rect">
            <a:avLst/>
          </a:prstGeom>
        </p:spPr>
        <p:txBody>
          <a:bodyPr anchor="t" rtlCol="false" tIns="0" lIns="0" bIns="0" rIns="0">
            <a:spAutoFit/>
          </a:bodyPr>
          <a:lstStyle/>
          <a:p>
            <a:pPr algn="l">
              <a:lnSpc>
                <a:spcPts val="9720"/>
              </a:lnSpc>
            </a:pPr>
            <a:r>
              <a:rPr lang="en-US" b="true" sz="9000" spc="-1">
                <a:solidFill>
                  <a:srgbClr val="C00000"/>
                </a:solidFill>
                <a:latin typeface="Lato Bold"/>
                <a:ea typeface="Lato Bold"/>
                <a:cs typeface="Lato Bold"/>
                <a:sym typeface="Lato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DAHNwtdBy2k</dc:identifier>
  <dcterms:modified xsi:type="dcterms:W3CDTF">2011-08-01T06:04:30Z</dcterms:modified>
  <cp:revision>1</cp:revision>
  <dc:title>final_dav.pptx</dc:title>
</cp:coreProperties>
</file>